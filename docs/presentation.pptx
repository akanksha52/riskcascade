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7e5e6eac-5362-e307-870a-ac13ecf4bc9c}">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usually shows up in information before it shows up in numbers. A supplier has a fire, a company is hit by ransomware, a filing mentions a disruption. That information is scattered across news and disclosures, and someone still has to work out what it could mean financially. RiskCascade is one explainable path from that raw information to a portfolio-level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sentiment is a clue, not the answer. A negative article doesn't say how much money is at risk. For that you need what happened, which company, how well the evidence supports it, how severe it is, and who is connected to that company. RiskCascade keeps those pieces separate so each one can be inspected.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pipeline. It pulls news RSS and SEC 8-K filings and tags how much text it actually got. FinBERT scores sentiment and a local Qwen model extracts the event, with a keyword baseline alongside. An evidence-fusion step checks the output. FactorLens maps a supported event to a probability-of-default shock, a NetworkX graph spreads that shock, and Streamlit shows baseline versus stressed expected loss. The models run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 event becomes a stress scenario it has to be explainable. Each record keeps its source, text quality, entity, quote, sentiment, impact and confidence. Evidence fusion checks the quote is in the source, the company is known to the graph, and the two extractors agree. One caveat I want to be upfront about: a quote that matches the source shows the model didn't invent words. It doesn't prove the event is true, so weak records go to human review. The values on this slide are illustrative; replace them with a real run from the app if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In the synthetic demo, a factory fire hits Global SemiCorp. The shock moves to Tier-1 Auto Controls, then MegaMotors, then a bank exposure, Facility A, getting weaker along each edge. Expected loss is exposure times PD times LGD. Baseline is rupees 4,05,000, stressed is about 4,49,056, an increase of about 44,056, or roughly 10.9 percent. To be clear: the portfolio is synthetic and the shock sizes are illustrative assumptions, not a forecast. Numbers are previously observed demo outputs; re-run the app to confirm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idea is an intelligence-to-workflow layer for credit-risk teams: banks, lenders and counterparty-risk teams. A possible model is enterprise licences, API access to evidence-linked signals, and integration services. That's a proposal. There are no customers or revenue. S&amp;P Global and CRISIL already work on credit, market and operational risk, so this could be explored as a complementary analyst workflow. I'm not claiming either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exists today is a working prototype that turns unstructured text into structured signals and a transparent stress scenario. What doesn't exist yet: backtesting, calibrated shocks, broader coverage, validation on real portfolios, and security and governance work. RiskCascade demonstrates the analytical bridge between information and financial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10058400" cy="256032"/>
          </a:xfrm>
          <a:prstGeom prst="rect">
            <a:avLst/>
          </a:prstGeom>
          <a:noFill/>
          <a:ln/>
        </p:spPr>
        <p:txBody>
          <a:bodyPr wrap="square" lIns="0" tIns="0" rIns="0" bIns="0" rtlCol="0" anchor="ctr"/>
          <a:lstStyle/>
          <a:p>
            <a:pPr indent="0" marL="0">
              <a:buNone/>
            </a:pPr>
            <a:r>
              <a:rPr lang="en-US" sz="1000" dirty="0">
                <a:solidFill>
                  <a:schemeClr val="tx2"/>
                </a:solidFill>
              </a:rPr>
              <a:t>RiskCascade  ·  Akanksha Gangrade, MANIT Bhopal  ·  S&amp;P Global &amp; CRISIL Campus Hackathon 2026 — Code to Connect</a:t>
            </a:r>
            <a:endParaRPr lang="en-US" sz="10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10058400" cy="256032"/>
          </a:xfrm>
          <a:prstGeom prst="rect">
            <a:avLst/>
          </a:prstGeom>
          <a:noFill/>
          <a:ln/>
        </p:spPr>
        <p:txBody>
          <a:bodyPr wrap="square" lIns="0" tIns="0" rIns="0" bIns="0" rtlCol="0" anchor="ctr"/>
          <a:lstStyle/>
          <a:p>
            <a:pPr indent="0" marL="0">
              <a:buNone/>
            </a:pPr>
            <a:r>
              <a:rPr lang="en-US" sz="1000" dirty="0">
                <a:solidFill>
                  <a:srgbClr val="A9B8C9"/>
                </a:solidFill>
              </a:rPr>
              <a:t>RiskCascade  ·  Akanksha Gangrade, MANIT Bhopal  ·  S&amp;P Global &amp; CRISIL Campus Hackathon 2026 — Code to Connect</a:t>
            </a:r>
            <a:endParaRPr lang="en-US" sz="10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B8C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10058400" cy="256032"/>
          </a:xfrm>
          <a:prstGeom prst="rect">
            <a:avLst/>
          </a:prstGeom>
          <a:noFill/>
          <a:ln/>
        </p:spPr>
        <p:txBody>
          <a:bodyPr wrap="square" lIns="0" tIns="0" rIns="0" bIns="0" rtlCol="0" anchor="ctr"/>
          <a:lstStyle/>
          <a:p>
            <a:pPr indent="0" marL="0">
              <a:buNone/>
            </a:pPr>
            <a:r>
              <a:rPr lang="en-US" sz="1000" dirty="0">
                <a:solidFill>
                  <a:schemeClr val="tx2"/>
                </a:solidFill>
              </a:rPr>
              <a:t>RiskCascade  ·  Akanksha Gangrade, MANIT Bhopal  ·  S&amp;P Global &amp; CRISIL Campus Hackathon 2026 — Code to Connect</a:t>
            </a:r>
            <a:endParaRPr lang="en-US" sz="10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RISKCASCADE</a:t>
            </a:r>
            <a:endParaRPr lang="en-US" sz="1400" dirty="0"/>
          </a:p>
        </p:txBody>
      </p:sp>
      <p:sp>
        <p:nvSpPr>
          <p:cNvPr id="3" name="Text 1"/>
          <p:cNvSpPr txBox="1"/>
          <p:nvPr/>
        </p:nvSpPr>
        <p:spPr>
          <a:xfrm>
            <a:off x="548640" y="621792"/>
            <a:ext cx="5943600" cy="274320"/>
          </a:xfrm>
          <a:prstGeom prst="rect">
            <a:avLst/>
          </a:prstGeom>
          <a:noFill/>
          <a:ln/>
        </p:spPr>
        <p:txBody>
          <a:bodyPr wrap="square" lIns="0" tIns="0" rIns="0" bIns="0" rtlCol="0" anchor="t"/>
          <a:lstStyle/>
          <a:p>
            <a:pPr indent="0" marL="0">
              <a:buNone/>
            </a:pPr>
            <a:r>
              <a:rPr lang="en-US" sz="1300" dirty="0">
                <a:solidFill>
                  <a:schemeClr val="tx2"/>
                </a:solidFill>
              </a:rPr>
              <a:t>Evidence-to-Impact Credit Risk Cascade Engine</a:t>
            </a:r>
            <a:endParaRPr lang="en-US" sz="1300" dirty="0"/>
          </a:p>
        </p:txBody>
      </p:sp>
      <p:sp>
        <p:nvSpPr>
          <p:cNvPr id="4" name="Text 2"/>
          <p:cNvSpPr txBox="1"/>
          <p:nvPr/>
        </p:nvSpPr>
        <p:spPr>
          <a:xfrm>
            <a:off x="7068312" y="365760"/>
            <a:ext cx="4572000" cy="274320"/>
          </a:xfrm>
          <a:prstGeom prst="rect">
            <a:avLst/>
          </a:prstGeom>
          <a:noFill/>
          <a:ln/>
        </p:spPr>
        <p:txBody>
          <a:bodyPr wrap="square" lIns="0" tIns="0" rIns="0" bIns="0" rtlCol="0" anchor="t"/>
          <a:lstStyle/>
          <a:p>
            <a:pPr algn="r" indent="0" marL="0">
              <a:buNone/>
            </a:pPr>
            <a:r>
              <a:rPr lang="en-US" sz="1400" b="1" dirty="0">
                <a:solidFill>
                  <a:schemeClr val="tx1"/>
                </a:solidFill>
              </a:rPr>
              <a:t>Akanksha Gangrade</a:t>
            </a:r>
            <a:endParaRPr lang="en-US" sz="1400" dirty="0"/>
          </a:p>
        </p:txBody>
      </p:sp>
      <p:sp>
        <p:nvSpPr>
          <p:cNvPr id="5" name="Text 3"/>
          <p:cNvSpPr txBox="1"/>
          <p:nvPr/>
        </p:nvSpPr>
        <p:spPr>
          <a:xfrm>
            <a:off x="5696712" y="621792"/>
            <a:ext cx="5943600" cy="274320"/>
          </a:xfrm>
          <a:prstGeom prst="rect">
            <a:avLst/>
          </a:prstGeom>
          <a:noFill/>
          <a:ln/>
        </p:spPr>
        <p:txBody>
          <a:bodyPr wrap="square" lIns="0" tIns="0" rIns="0" bIns="0" rtlCol="0" anchor="t"/>
          <a:lstStyle/>
          <a:p>
            <a:pPr algn="r" indent="0" marL="0">
              <a:buNone/>
            </a:pPr>
            <a:r>
              <a:rPr lang="en-US" sz="1300" dirty="0">
                <a:solidFill>
                  <a:schemeClr val="tx2"/>
                </a:solidFill>
              </a:rPr>
              <a:t>Maulana Azad National Institute of Technology, Bhopal  ·  Solo entry</a:t>
            </a:r>
            <a:endParaRPr lang="en-US" sz="1300" dirty="0"/>
          </a:p>
        </p:txBody>
      </p:sp>
      <p:sp>
        <p:nvSpPr>
          <p:cNvPr id="6"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3600" b="1" dirty="0">
                <a:solidFill>
                  <a:schemeClr val="tx1"/>
                </a:solidFill>
              </a:rPr>
              <a:t>The signal appears in information.</a:t>
            </a:r>
            <a:endParaRPr lang="en-US" sz="3600" dirty="0"/>
          </a:p>
          <a:p>
            <a:pPr algn="l" indent="0" marL="0">
              <a:buNone/>
            </a:pPr>
            <a:r>
              <a:rPr lang="en-US" sz="3600" b="1" dirty="0">
                <a:solidFill>
                  <a:schemeClr val="tx1"/>
                </a:solidFill>
              </a:rPr>
              <a:t>The financial impact appears later</a:t>
            </a:r>
            <a:endParaRPr lang="en-US" sz="3600" dirty="0"/>
          </a:p>
        </p:txBody>
      </p:sp>
      <p:sp>
        <p:nvSpPr>
          <p:cNvPr id="7" name="Text 5"/>
          <p:cNvSpPr txBox="1"/>
          <p:nvPr/>
        </p:nvSpPr>
        <p:spPr>
          <a:xfrm>
            <a:off x="548640" y="2194560"/>
            <a:ext cx="8595360" cy="777240"/>
          </a:xfrm>
          <a:prstGeom prst="rect">
            <a:avLst/>
          </a:prstGeom>
          <a:noFill/>
          <a:ln/>
        </p:spPr>
        <p:txBody>
          <a:bodyPr wrap="square" lIns="0" tIns="0" rIns="0" bIns="0" rtlCol="0" anchor="t"/>
          <a:lstStyle/>
          <a:p>
            <a:pPr indent="0" marL="0">
              <a:buNone/>
            </a:pPr>
            <a:r>
              <a:rPr lang="en-US" sz="1800" dirty="0">
                <a:solidFill>
                  <a:schemeClr val="tx2"/>
                </a:solidFill>
              </a:rPr>
              <a:t>Meaningful risk information is scattered across unstructured news and disclosures. A decision-maker needs a structured, explainable view of what it could mean financially.</a:t>
            </a:r>
            <a:endParaRPr lang="en-US" sz="1800" dirty="0"/>
          </a:p>
        </p:txBody>
      </p:sp>
      <p:sp>
        <p:nvSpPr>
          <p:cNvPr id="8" name="Text 6"/>
          <p:cNvSpPr txBox="1"/>
          <p:nvPr/>
        </p:nvSpPr>
        <p:spPr>
          <a:xfrm>
            <a:off x="548640" y="3108960"/>
            <a:ext cx="3154680" cy="228600"/>
          </a:xfrm>
          <a:prstGeom prst="rect">
            <a:avLst/>
          </a:prstGeom>
          <a:noFill/>
          <a:ln/>
        </p:spPr>
        <p:txBody>
          <a:bodyPr wrap="square" lIns="0" tIns="0" rIns="0" bIns="0" rtlCol="0" anchor="t"/>
          <a:lstStyle/>
          <a:p>
            <a:pPr indent="0" marL="0">
              <a:buNone/>
            </a:pPr>
            <a:r>
              <a:rPr lang="en-US" sz="1100" b="1" spc="100" kern="0" dirty="0">
                <a:solidFill>
                  <a:schemeClr val="tx2"/>
                </a:solidFill>
              </a:rPr>
              <a:t>UNSTRUCTURED INFORMATION</a:t>
            </a:r>
            <a:endParaRPr lang="en-US" sz="1100" dirty="0"/>
          </a:p>
        </p:txBody>
      </p:sp>
      <p:sp>
        <p:nvSpPr>
          <p:cNvPr id="9" name="Text 7"/>
          <p:cNvSpPr txBox="1"/>
          <p:nvPr/>
        </p:nvSpPr>
        <p:spPr>
          <a:xfrm>
            <a:off x="548640" y="3383280"/>
            <a:ext cx="3154680" cy="411480"/>
          </a:xfrm>
          <a:prstGeom prst="rect">
            <a:avLst/>
          </a:prstGeom>
          <a:noFill/>
          <a:ln/>
        </p:spPr>
        <p:txBody>
          <a:bodyPr wrap="square" lIns="0" tIns="0" rIns="0" bIns="0" rtlCol="0" anchor="t"/>
          <a:lstStyle/>
          <a:p>
            <a:pPr indent="0" marL="0">
              <a:buNone/>
            </a:pPr>
            <a:r>
              <a:rPr lang="en-US" sz="2200" b="1" dirty="0">
                <a:solidFill>
                  <a:schemeClr val="tx1"/>
                </a:solidFill>
              </a:rPr>
              <a:t>Fragmented public sources</a:t>
            </a:r>
            <a:endParaRPr lang="en-US" sz="2200" dirty="0"/>
          </a:p>
        </p:txBody>
      </p:sp>
      <p:sp>
        <p:nvSpPr>
          <p:cNvPr id="10" name="Shape 8"/>
          <p:cNvSpPr/>
          <p:nvPr/>
        </p:nvSpPr>
        <p:spPr>
          <a:xfrm>
            <a:off x="548640" y="3931920"/>
            <a:ext cx="3136392" cy="0"/>
          </a:xfrm>
          <a:prstGeom prst="line">
            <a:avLst/>
          </a:prstGeom>
          <a:noFill/>
          <a:ln w="9525">
            <a:solidFill>
              <a:srgbClr val="D5DBE3"/>
            </a:solidFill>
            <a:prstDash val="solid"/>
          </a:ln>
        </p:spPr>
      </p:sp>
      <p:sp>
        <p:nvSpPr>
          <p:cNvPr id="11" name="Text 9"/>
          <p:cNvSpPr txBox="1"/>
          <p:nvPr/>
        </p:nvSpPr>
        <p:spPr>
          <a:xfrm>
            <a:off x="548640" y="4114800"/>
            <a:ext cx="3136392" cy="1371600"/>
          </a:xfrm>
          <a:prstGeom prst="rect">
            <a:avLst/>
          </a:prstGeom>
          <a:noFill/>
          <a:ln/>
        </p:spPr>
        <p:txBody>
          <a:bodyPr wrap="square" lIns="0" tIns="0" rIns="0" bIns="0" rtlCol="0" anchor="t"/>
          <a:lstStyle/>
          <a:p>
            <a:pPr indent="0" marL="0">
              <a:spcAft>
                <a:spcPts val="900"/>
              </a:spcAft>
              <a:buNone/>
            </a:pPr>
            <a:r>
              <a:rPr lang="en-US" sz="1500" dirty="0">
                <a:solidFill>
                  <a:schemeClr val="tx1"/>
                </a:solidFill>
              </a:rPr>
              <a:t>Financial-news RSS</a:t>
            </a:r>
            <a:endParaRPr lang="en-US" sz="1500" dirty="0"/>
          </a:p>
          <a:p>
            <a:pPr indent="0" marL="0">
              <a:spcAft>
                <a:spcPts val="900"/>
              </a:spcAft>
              <a:buNone/>
            </a:pPr>
            <a:r>
              <a:rPr lang="en-US" sz="1500" dirty="0">
                <a:solidFill>
                  <a:schemeClr val="tx1"/>
                </a:solidFill>
              </a:rPr>
              <a:t>Supply-chain and cyber-risk news</a:t>
            </a:r>
            <a:endParaRPr lang="en-US" sz="1500" dirty="0"/>
          </a:p>
          <a:p>
            <a:pPr indent="0" marL="0">
              <a:spcAft>
                <a:spcPts val="900"/>
              </a:spcAft>
              <a:buNone/>
            </a:pPr>
            <a:r>
              <a:rPr lang="en-US" sz="1500" dirty="0">
                <a:solidFill>
                  <a:schemeClr val="tx1"/>
                </a:solidFill>
              </a:rPr>
              <a:t>SEC 8-K filings</a:t>
            </a:r>
            <a:endParaRPr lang="en-US" sz="1500" dirty="0"/>
          </a:p>
        </p:txBody>
      </p:sp>
      <p:sp>
        <p:nvSpPr>
          <p:cNvPr id="12" name="Text 10"/>
          <p:cNvSpPr txBox="1"/>
          <p:nvPr/>
        </p:nvSpPr>
        <p:spPr>
          <a:xfrm>
            <a:off x="4526280" y="3108960"/>
            <a:ext cx="315468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STRUCTURED SIGNAL</a:t>
            </a:r>
            <a:endParaRPr lang="en-US" sz="1100" dirty="0"/>
          </a:p>
        </p:txBody>
      </p:sp>
      <p:sp>
        <p:nvSpPr>
          <p:cNvPr id="13" name="Text 11"/>
          <p:cNvSpPr txBox="1"/>
          <p:nvPr/>
        </p:nvSpPr>
        <p:spPr>
          <a:xfrm>
            <a:off x="4526280" y="3383280"/>
            <a:ext cx="3154680" cy="411480"/>
          </a:xfrm>
          <a:prstGeom prst="rect">
            <a:avLst/>
          </a:prstGeom>
          <a:noFill/>
          <a:ln/>
        </p:spPr>
        <p:txBody>
          <a:bodyPr wrap="square" lIns="0" tIns="0" rIns="0" bIns="0" rtlCol="0" anchor="t"/>
          <a:lstStyle/>
          <a:p>
            <a:pPr indent="0" marL="0">
              <a:buNone/>
            </a:pPr>
            <a:r>
              <a:rPr lang="en-US" sz="2200" b="1" dirty="0">
                <a:solidFill>
                  <a:schemeClr val="tx1"/>
                </a:solidFill>
              </a:rPr>
              <a:t>A checked risk event</a:t>
            </a:r>
            <a:endParaRPr lang="en-US" sz="2200" dirty="0"/>
          </a:p>
        </p:txBody>
      </p:sp>
      <p:sp>
        <p:nvSpPr>
          <p:cNvPr id="14" name="Shape 12"/>
          <p:cNvSpPr/>
          <p:nvPr/>
        </p:nvSpPr>
        <p:spPr>
          <a:xfrm>
            <a:off x="4526280" y="3931920"/>
            <a:ext cx="3136392" cy="0"/>
          </a:xfrm>
          <a:prstGeom prst="line">
            <a:avLst/>
          </a:prstGeom>
          <a:noFill/>
          <a:ln w="9525">
            <a:solidFill>
              <a:srgbClr val="D5DBE3"/>
            </a:solidFill>
            <a:prstDash val="solid"/>
          </a:ln>
        </p:spPr>
      </p:sp>
      <p:sp>
        <p:nvSpPr>
          <p:cNvPr id="15" name="Text 13"/>
          <p:cNvSpPr txBox="1"/>
          <p:nvPr/>
        </p:nvSpPr>
        <p:spPr>
          <a:xfrm>
            <a:off x="4526280" y="4114800"/>
            <a:ext cx="3136392" cy="1371600"/>
          </a:xfrm>
          <a:prstGeom prst="rect">
            <a:avLst/>
          </a:prstGeom>
          <a:noFill/>
          <a:ln/>
        </p:spPr>
        <p:txBody>
          <a:bodyPr wrap="square" lIns="0" tIns="0" rIns="0" bIns="0" rtlCol="0" anchor="t"/>
          <a:lstStyle/>
          <a:p>
            <a:pPr indent="0" marL="0">
              <a:spcAft>
                <a:spcPts val="900"/>
              </a:spcAft>
              <a:buNone/>
            </a:pPr>
            <a:r>
              <a:rPr lang="en-US" sz="1500" dirty="0">
                <a:solidFill>
                  <a:schemeClr val="tx1"/>
                </a:solidFill>
              </a:rPr>
              <a:t>Entity and event type</a:t>
            </a:r>
            <a:endParaRPr lang="en-US" sz="1500" dirty="0"/>
          </a:p>
          <a:p>
            <a:pPr indent="0" marL="0">
              <a:spcAft>
                <a:spcPts val="900"/>
              </a:spcAft>
              <a:buNone/>
            </a:pPr>
            <a:r>
              <a:rPr lang="en-US" sz="1500" dirty="0">
                <a:solidFill>
                  <a:schemeClr val="tx1"/>
                </a:solidFill>
              </a:rPr>
              <a:t>Sentiment (−1 to +1), impact (1–10)</a:t>
            </a:r>
            <a:endParaRPr lang="en-US" sz="1500" dirty="0"/>
          </a:p>
          <a:p>
            <a:pPr indent="0" marL="0">
              <a:spcAft>
                <a:spcPts val="900"/>
              </a:spcAft>
              <a:buNone/>
            </a:pPr>
            <a:r>
              <a:rPr lang="en-US" sz="1500" dirty="0">
                <a:solidFill>
                  <a:schemeClr val="tx1"/>
                </a:solidFill>
              </a:rPr>
              <a:t>Evidence and confidence</a:t>
            </a:r>
            <a:endParaRPr lang="en-US" sz="1500" dirty="0"/>
          </a:p>
        </p:txBody>
      </p:sp>
      <p:sp>
        <p:nvSpPr>
          <p:cNvPr id="16" name="Text 14"/>
          <p:cNvSpPr txBox="1"/>
          <p:nvPr/>
        </p:nvSpPr>
        <p:spPr>
          <a:xfrm>
            <a:off x="8503920" y="3108960"/>
            <a:ext cx="3154680" cy="228600"/>
          </a:xfrm>
          <a:prstGeom prst="rect">
            <a:avLst/>
          </a:prstGeom>
          <a:noFill/>
          <a:ln/>
        </p:spPr>
        <p:txBody>
          <a:bodyPr wrap="square" lIns="0" tIns="0" rIns="0" bIns="0" rtlCol="0" anchor="t"/>
          <a:lstStyle/>
          <a:p>
            <a:pPr indent="0" marL="0">
              <a:buNone/>
            </a:pPr>
            <a:r>
              <a:rPr lang="en-US" sz="1100" b="1" spc="100" kern="0" dirty="0">
                <a:solidFill>
                  <a:schemeClr val="accent3"/>
                </a:solidFill>
              </a:rPr>
              <a:t>PORTFOLIO IMPACT</a:t>
            </a:r>
            <a:endParaRPr lang="en-US" sz="1100" dirty="0"/>
          </a:p>
        </p:txBody>
      </p:sp>
      <p:sp>
        <p:nvSpPr>
          <p:cNvPr id="17" name="Text 15"/>
          <p:cNvSpPr txBox="1"/>
          <p:nvPr/>
        </p:nvSpPr>
        <p:spPr>
          <a:xfrm>
            <a:off x="8503920" y="3383280"/>
            <a:ext cx="3154680" cy="411480"/>
          </a:xfrm>
          <a:prstGeom prst="rect">
            <a:avLst/>
          </a:prstGeom>
          <a:noFill/>
          <a:ln/>
        </p:spPr>
        <p:txBody>
          <a:bodyPr wrap="square" lIns="0" tIns="0" rIns="0" bIns="0" rtlCol="0" anchor="t"/>
          <a:lstStyle/>
          <a:p>
            <a:pPr indent="0" marL="0">
              <a:buNone/>
            </a:pPr>
            <a:r>
              <a:rPr lang="en-US" sz="2200" b="1" dirty="0">
                <a:solidFill>
                  <a:schemeClr val="tx1"/>
                </a:solidFill>
              </a:rPr>
              <a:t>A scenario to inspect</a:t>
            </a:r>
            <a:endParaRPr lang="en-US" sz="2200" dirty="0"/>
          </a:p>
        </p:txBody>
      </p:sp>
      <p:sp>
        <p:nvSpPr>
          <p:cNvPr id="18" name="Shape 16"/>
          <p:cNvSpPr/>
          <p:nvPr/>
        </p:nvSpPr>
        <p:spPr>
          <a:xfrm>
            <a:off x="8503920" y="3931920"/>
            <a:ext cx="3136392" cy="0"/>
          </a:xfrm>
          <a:prstGeom prst="line">
            <a:avLst/>
          </a:prstGeom>
          <a:noFill/>
          <a:ln w="9525">
            <a:solidFill>
              <a:srgbClr val="D5DBE3"/>
            </a:solidFill>
            <a:prstDash val="solid"/>
          </a:ln>
        </p:spPr>
      </p:sp>
      <p:sp>
        <p:nvSpPr>
          <p:cNvPr id="19" name="Text 17"/>
          <p:cNvSpPr txBox="1"/>
          <p:nvPr/>
        </p:nvSpPr>
        <p:spPr>
          <a:xfrm>
            <a:off x="8503920" y="4114800"/>
            <a:ext cx="3136392" cy="1371600"/>
          </a:xfrm>
          <a:prstGeom prst="rect">
            <a:avLst/>
          </a:prstGeom>
          <a:noFill/>
          <a:ln/>
        </p:spPr>
        <p:txBody>
          <a:bodyPr wrap="square" lIns="0" tIns="0" rIns="0" bIns="0" rtlCol="0" anchor="t"/>
          <a:lstStyle/>
          <a:p>
            <a:pPr indent="0" marL="0">
              <a:spcAft>
                <a:spcPts val="900"/>
              </a:spcAft>
              <a:buNone/>
            </a:pPr>
            <a:r>
              <a:rPr lang="en-US" sz="1500" dirty="0">
                <a:solidFill>
                  <a:schemeClr val="tx1"/>
                </a:solidFill>
              </a:rPr>
              <a:t>Connected entities and exposures</a:t>
            </a:r>
            <a:endParaRPr lang="en-US" sz="1500" dirty="0"/>
          </a:p>
          <a:p>
            <a:pPr indent="0" marL="0">
              <a:spcAft>
                <a:spcPts val="900"/>
              </a:spcAft>
              <a:buNone/>
            </a:pPr>
            <a:r>
              <a:rPr lang="en-US" sz="1500" dirty="0">
                <a:solidFill>
                  <a:schemeClr val="tx1"/>
                </a:solidFill>
              </a:rPr>
              <a:t>Assumed shock moving through a graph</a:t>
            </a:r>
            <a:endParaRPr lang="en-US" sz="1500" dirty="0"/>
          </a:p>
          <a:p>
            <a:pPr indent="0" marL="0">
              <a:spcAft>
                <a:spcPts val="900"/>
              </a:spcAft>
              <a:buNone/>
            </a:pPr>
            <a:r>
              <a:rPr lang="en-US" sz="1500" dirty="0">
                <a:solidFill>
                  <a:schemeClr val="tx1"/>
                </a:solidFill>
              </a:rPr>
              <a:t>Baseline vs stressed expected loss</a:t>
            </a:r>
            <a:endParaRPr lang="en-US" sz="1500" dirty="0"/>
          </a:p>
        </p:txBody>
      </p:sp>
      <p:sp>
        <p:nvSpPr>
          <p:cNvPr id="20" name="Shape 18"/>
          <p:cNvSpPr/>
          <p:nvPr/>
        </p:nvSpPr>
        <p:spPr>
          <a:xfrm>
            <a:off x="3767328" y="3584448"/>
            <a:ext cx="640080" cy="0"/>
          </a:xfrm>
          <a:prstGeom prst="line">
            <a:avLst/>
          </a:prstGeom>
          <a:noFill/>
          <a:ln w="22225">
            <a:solidFill>
              <a:schemeClr val="tx2"/>
            </a:solidFill>
            <a:prstDash val="solid"/>
            <a:tailEnd type="triangle"/>
          </a:ln>
        </p:spPr>
      </p:sp>
      <p:sp>
        <p:nvSpPr>
          <p:cNvPr id="21" name="Shape 19"/>
          <p:cNvSpPr/>
          <p:nvPr/>
        </p:nvSpPr>
        <p:spPr>
          <a:xfrm>
            <a:off x="7744968" y="3584448"/>
            <a:ext cx="640080" cy="0"/>
          </a:xfrm>
          <a:prstGeom prst="line">
            <a:avLst/>
          </a:prstGeom>
          <a:noFill/>
          <a:ln w="22225">
            <a:solidFill>
              <a:schemeClr val="tx2"/>
            </a:solidFill>
            <a:prstDash val="solid"/>
            <a:tailEnd type="triangle"/>
          </a:ln>
        </p:spPr>
      </p:sp>
      <p:sp>
        <p:nvSpPr>
          <p:cNvPr id="22" name="Shape 20"/>
          <p:cNvSpPr/>
          <p:nvPr/>
        </p:nvSpPr>
        <p:spPr>
          <a:xfrm>
            <a:off x="548640" y="5715000"/>
            <a:ext cx="11091672" cy="0"/>
          </a:xfrm>
          <a:prstGeom prst="line">
            <a:avLst/>
          </a:prstGeom>
          <a:noFill/>
          <a:ln w="22225">
            <a:solidFill>
              <a:schemeClr val="tx2"/>
            </a:solidFill>
            <a:prstDash val="solid"/>
            <a:tailEnd type="triangle"/>
          </a:ln>
        </p:spPr>
      </p:sp>
      <p:sp>
        <p:nvSpPr>
          <p:cNvPr id="23" name="Shape 21"/>
          <p:cNvSpPr/>
          <p:nvPr/>
        </p:nvSpPr>
        <p:spPr>
          <a:xfrm>
            <a:off x="548640" y="5650992"/>
            <a:ext cx="128016" cy="128016"/>
          </a:xfrm>
          <a:prstGeom prst="ellipse">
            <a:avLst/>
          </a:prstGeom>
          <a:solidFill>
            <a:schemeClr val="accent1"/>
          </a:solidFill>
          <a:ln w="12700">
            <a:solidFill>
              <a:schemeClr val="accent1"/>
            </a:solidFill>
            <a:prstDash val="solid"/>
          </a:ln>
        </p:spPr>
      </p:sp>
      <p:sp>
        <p:nvSpPr>
          <p:cNvPr id="24" name="Shape 22"/>
          <p:cNvSpPr/>
          <p:nvPr/>
        </p:nvSpPr>
        <p:spPr>
          <a:xfrm>
            <a:off x="11512296" y="5650992"/>
            <a:ext cx="128016" cy="128016"/>
          </a:xfrm>
          <a:prstGeom prst="ellipse">
            <a:avLst/>
          </a:prstGeom>
          <a:solidFill>
            <a:schemeClr val="accent3"/>
          </a:solidFill>
          <a:ln w="12700">
            <a:solidFill>
              <a:schemeClr val="accent3"/>
            </a:solidFill>
            <a:prstDash val="solid"/>
          </a:ln>
        </p:spPr>
      </p:sp>
      <p:sp>
        <p:nvSpPr>
          <p:cNvPr id="25" name="Text 23"/>
          <p:cNvSpPr txBox="1"/>
          <p:nvPr/>
        </p:nvSpPr>
        <p:spPr>
          <a:xfrm>
            <a:off x="548640" y="5943600"/>
            <a:ext cx="4572000" cy="274320"/>
          </a:xfrm>
          <a:prstGeom prst="rect">
            <a:avLst/>
          </a:prstGeom>
          <a:noFill/>
          <a:ln/>
        </p:spPr>
        <p:txBody>
          <a:bodyPr wrap="square" lIns="0" tIns="0" rIns="0" bIns="0" rtlCol="0" anchor="t"/>
          <a:lstStyle/>
          <a:p>
            <a:pPr indent="0" marL="0">
              <a:buNone/>
            </a:pPr>
            <a:r>
              <a:rPr lang="en-US" sz="1300" dirty="0">
                <a:solidFill>
                  <a:schemeClr val="tx2"/>
                </a:solidFill>
              </a:rPr>
              <a:t>The risk signal first appears here</a:t>
            </a:r>
            <a:endParaRPr lang="en-US" sz="1300" dirty="0"/>
          </a:p>
        </p:txBody>
      </p:sp>
      <p:sp>
        <p:nvSpPr>
          <p:cNvPr id="26" name="Text 24"/>
          <p:cNvSpPr txBox="1"/>
          <p:nvPr/>
        </p:nvSpPr>
        <p:spPr>
          <a:xfrm>
            <a:off x="7068312" y="5943600"/>
            <a:ext cx="4572000" cy="274320"/>
          </a:xfrm>
          <a:prstGeom prst="rect">
            <a:avLst/>
          </a:prstGeom>
          <a:noFill/>
          <a:ln/>
        </p:spPr>
        <p:txBody>
          <a:bodyPr wrap="square" lIns="0" tIns="0" rIns="0" bIns="0" rtlCol="0" anchor="t"/>
          <a:lstStyle/>
          <a:p>
            <a:pPr algn="r" indent="0" marL="0">
              <a:buNone/>
            </a:pPr>
            <a:r>
              <a:rPr lang="en-US" sz="1300" dirty="0">
                <a:solidFill>
                  <a:schemeClr val="tx2"/>
                </a:solidFill>
              </a:rPr>
              <a:t>Financial impact becomes visible here</a:t>
            </a:r>
            <a:endParaRPr lang="en-US" sz="13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lIns="0" tIns="0" rIns="0" bIns="0" rtlCol="0" anchor="t"/>
          <a:lstStyle/>
          <a:p>
            <a:pPr algn="l" indent="0" marL="0">
              <a:buNone/>
            </a:pPr>
            <a:r>
              <a:rPr lang="en-US" sz="3200" b="1" dirty="0">
                <a:solidFill>
                  <a:schemeClr val="tx1"/>
                </a:solidFill>
              </a:rPr>
              <a:t>Sentiment is a clue.</a:t>
            </a:r>
            <a:endParaRPr lang="en-US" sz="3200" dirty="0"/>
          </a:p>
          <a:p>
            <a:pPr algn="l" indent="0" marL="0">
              <a:buNone/>
            </a:pPr>
            <a:r>
              <a:rPr lang="en-US" sz="3200" b="1" dirty="0">
                <a:solidFill>
                  <a:schemeClr val="tx1"/>
                </a:solidFill>
              </a:rPr>
              <a:t>Exposure determines the consequence</a:t>
            </a:r>
            <a:endParaRPr lang="en-US" sz="3200" dirty="0"/>
          </a:p>
        </p:txBody>
      </p:sp>
      <p:sp>
        <p:nvSpPr>
          <p:cNvPr id="3" name="Text 1"/>
          <p:cNvSpPr txBox="1"/>
          <p:nvPr/>
        </p:nvSpPr>
        <p:spPr>
          <a:xfrm>
            <a:off x="548640" y="1874520"/>
            <a:ext cx="1463040" cy="411480"/>
          </a:xfrm>
          <a:prstGeom prst="rect">
            <a:avLst/>
          </a:prstGeom>
          <a:noFill/>
          <a:ln/>
        </p:spPr>
        <p:txBody>
          <a:bodyPr wrap="square" lIns="0" tIns="0" rIns="0" bIns="0" rtlCol="0" anchor="t"/>
          <a:lstStyle/>
          <a:p>
            <a:pPr indent="0" marL="0">
              <a:buNone/>
            </a:pPr>
            <a:r>
              <a:rPr lang="en-US" sz="2400" b="1" dirty="0">
                <a:solidFill>
                  <a:schemeClr val="tx1"/>
                </a:solidFill>
              </a:rPr>
              <a:t>Event</a:t>
            </a:r>
            <a:endParaRPr lang="en-US" sz="2400" dirty="0"/>
          </a:p>
        </p:txBody>
      </p:sp>
      <p:sp>
        <p:nvSpPr>
          <p:cNvPr id="4" name="Text 2"/>
          <p:cNvSpPr txBox="1"/>
          <p:nvPr/>
        </p:nvSpPr>
        <p:spPr>
          <a:xfrm>
            <a:off x="548640" y="2377440"/>
            <a:ext cx="1463040" cy="548640"/>
          </a:xfrm>
          <a:prstGeom prst="rect">
            <a:avLst/>
          </a:prstGeom>
          <a:noFill/>
          <a:ln/>
        </p:spPr>
        <p:txBody>
          <a:bodyPr wrap="square" lIns="0" tIns="0" rIns="0" bIns="0" rtlCol="0" anchor="t"/>
          <a:lstStyle/>
          <a:p>
            <a:pPr indent="0" marL="0">
              <a:buNone/>
            </a:pPr>
            <a:r>
              <a:rPr lang="en-US" sz="1300" dirty="0">
                <a:solidFill>
                  <a:schemeClr val="tx2"/>
                </a:solidFill>
              </a:rPr>
              <a:t>what happened</a:t>
            </a:r>
            <a:endParaRPr lang="en-US" sz="1300" dirty="0"/>
          </a:p>
        </p:txBody>
      </p:sp>
      <p:sp>
        <p:nvSpPr>
          <p:cNvPr id="5" name="Text 3"/>
          <p:cNvSpPr txBox="1"/>
          <p:nvPr/>
        </p:nvSpPr>
        <p:spPr>
          <a:xfrm>
            <a:off x="1783080" y="1828800"/>
            <a:ext cx="457200" cy="457200"/>
          </a:xfrm>
          <a:prstGeom prst="rect">
            <a:avLst/>
          </a:prstGeom>
          <a:noFill/>
          <a:ln/>
        </p:spPr>
        <p:txBody>
          <a:bodyPr wrap="square" lIns="0" tIns="0" rIns="0" bIns="0" rtlCol="0" anchor="t"/>
          <a:lstStyle/>
          <a:p>
            <a:pPr algn="ctr" indent="0" marL="0">
              <a:buNone/>
            </a:pPr>
            <a:r>
              <a:rPr lang="en-US" sz="2400" dirty="0">
                <a:solidFill>
                  <a:schemeClr val="tx2"/>
                </a:solidFill>
              </a:rPr>
              <a:t>+</a:t>
            </a:r>
            <a:endParaRPr lang="en-US" sz="2400" dirty="0"/>
          </a:p>
        </p:txBody>
      </p:sp>
      <p:sp>
        <p:nvSpPr>
          <p:cNvPr id="6" name="Text 4"/>
          <p:cNvSpPr txBox="1"/>
          <p:nvPr/>
        </p:nvSpPr>
        <p:spPr>
          <a:xfrm>
            <a:off x="2286000" y="1874520"/>
            <a:ext cx="1463040" cy="411480"/>
          </a:xfrm>
          <a:prstGeom prst="rect">
            <a:avLst/>
          </a:prstGeom>
          <a:noFill/>
          <a:ln/>
        </p:spPr>
        <p:txBody>
          <a:bodyPr wrap="square" lIns="0" tIns="0" rIns="0" bIns="0" rtlCol="0" anchor="t"/>
          <a:lstStyle/>
          <a:p>
            <a:pPr indent="0" marL="0">
              <a:buNone/>
            </a:pPr>
            <a:r>
              <a:rPr lang="en-US" sz="2400" b="1" dirty="0">
                <a:solidFill>
                  <a:schemeClr val="tx1"/>
                </a:solidFill>
              </a:rPr>
              <a:t>Entity</a:t>
            </a:r>
            <a:endParaRPr lang="en-US" sz="2400" dirty="0"/>
          </a:p>
        </p:txBody>
      </p:sp>
      <p:sp>
        <p:nvSpPr>
          <p:cNvPr id="7" name="Text 5"/>
          <p:cNvSpPr txBox="1"/>
          <p:nvPr/>
        </p:nvSpPr>
        <p:spPr>
          <a:xfrm>
            <a:off x="2286000" y="2377440"/>
            <a:ext cx="1463040" cy="548640"/>
          </a:xfrm>
          <a:prstGeom prst="rect">
            <a:avLst/>
          </a:prstGeom>
          <a:noFill/>
          <a:ln/>
        </p:spPr>
        <p:txBody>
          <a:bodyPr wrap="square" lIns="0" tIns="0" rIns="0" bIns="0" rtlCol="0" anchor="t"/>
          <a:lstStyle/>
          <a:p>
            <a:pPr indent="0" marL="0">
              <a:buNone/>
            </a:pPr>
            <a:r>
              <a:rPr lang="en-US" sz="1300" dirty="0">
                <a:solidFill>
                  <a:schemeClr val="tx2"/>
                </a:solidFill>
              </a:rPr>
              <a:t>who is affected</a:t>
            </a:r>
            <a:endParaRPr lang="en-US" sz="1300" dirty="0"/>
          </a:p>
        </p:txBody>
      </p:sp>
      <p:sp>
        <p:nvSpPr>
          <p:cNvPr id="8" name="Text 6"/>
          <p:cNvSpPr txBox="1"/>
          <p:nvPr/>
        </p:nvSpPr>
        <p:spPr>
          <a:xfrm>
            <a:off x="3520440" y="1828800"/>
            <a:ext cx="457200" cy="457200"/>
          </a:xfrm>
          <a:prstGeom prst="rect">
            <a:avLst/>
          </a:prstGeom>
          <a:noFill/>
          <a:ln/>
        </p:spPr>
        <p:txBody>
          <a:bodyPr wrap="square" lIns="0" tIns="0" rIns="0" bIns="0" rtlCol="0" anchor="t"/>
          <a:lstStyle/>
          <a:p>
            <a:pPr algn="ctr" indent="0" marL="0">
              <a:buNone/>
            </a:pPr>
            <a:r>
              <a:rPr lang="en-US" sz="2400" dirty="0">
                <a:solidFill>
                  <a:schemeClr val="tx2"/>
                </a:solidFill>
              </a:rPr>
              <a:t>+</a:t>
            </a:r>
            <a:endParaRPr lang="en-US" sz="2400" dirty="0"/>
          </a:p>
        </p:txBody>
      </p:sp>
      <p:sp>
        <p:nvSpPr>
          <p:cNvPr id="9" name="Text 7"/>
          <p:cNvSpPr txBox="1"/>
          <p:nvPr/>
        </p:nvSpPr>
        <p:spPr>
          <a:xfrm>
            <a:off x="4023360" y="1874520"/>
            <a:ext cx="1463040" cy="411480"/>
          </a:xfrm>
          <a:prstGeom prst="rect">
            <a:avLst/>
          </a:prstGeom>
          <a:noFill/>
          <a:ln/>
        </p:spPr>
        <p:txBody>
          <a:bodyPr wrap="square" lIns="0" tIns="0" rIns="0" bIns="0" rtlCol="0" anchor="t"/>
          <a:lstStyle/>
          <a:p>
            <a:pPr indent="0" marL="0">
              <a:buNone/>
            </a:pPr>
            <a:r>
              <a:rPr lang="en-US" sz="2400" b="1" dirty="0">
                <a:solidFill>
                  <a:schemeClr val="tx1"/>
                </a:solidFill>
              </a:rPr>
              <a:t>Evidence</a:t>
            </a:r>
            <a:endParaRPr lang="en-US" sz="2400" dirty="0"/>
          </a:p>
        </p:txBody>
      </p:sp>
      <p:sp>
        <p:nvSpPr>
          <p:cNvPr id="10" name="Text 8"/>
          <p:cNvSpPr txBox="1"/>
          <p:nvPr/>
        </p:nvSpPr>
        <p:spPr>
          <a:xfrm>
            <a:off x="4023360" y="2377440"/>
            <a:ext cx="1463040" cy="548640"/>
          </a:xfrm>
          <a:prstGeom prst="rect">
            <a:avLst/>
          </a:prstGeom>
          <a:noFill/>
          <a:ln/>
        </p:spPr>
        <p:txBody>
          <a:bodyPr wrap="square" lIns="0" tIns="0" rIns="0" bIns="0" rtlCol="0" anchor="t"/>
          <a:lstStyle/>
          <a:p>
            <a:pPr indent="0" marL="0">
              <a:buNone/>
            </a:pPr>
            <a:r>
              <a:rPr lang="en-US" sz="1300" dirty="0">
                <a:solidFill>
                  <a:schemeClr val="tx2"/>
                </a:solidFill>
              </a:rPr>
              <a:t>what the source supports</a:t>
            </a:r>
            <a:endParaRPr lang="en-US" sz="1300" dirty="0"/>
          </a:p>
        </p:txBody>
      </p:sp>
      <p:sp>
        <p:nvSpPr>
          <p:cNvPr id="11" name="Text 9"/>
          <p:cNvSpPr txBox="1"/>
          <p:nvPr/>
        </p:nvSpPr>
        <p:spPr>
          <a:xfrm>
            <a:off x="5257800" y="1828800"/>
            <a:ext cx="457200" cy="457200"/>
          </a:xfrm>
          <a:prstGeom prst="rect">
            <a:avLst/>
          </a:prstGeom>
          <a:noFill/>
          <a:ln/>
        </p:spPr>
        <p:txBody>
          <a:bodyPr wrap="square" lIns="0" tIns="0" rIns="0" bIns="0" rtlCol="0" anchor="t"/>
          <a:lstStyle/>
          <a:p>
            <a:pPr algn="ctr" indent="0" marL="0">
              <a:buNone/>
            </a:pPr>
            <a:r>
              <a:rPr lang="en-US" sz="2400" dirty="0">
                <a:solidFill>
                  <a:schemeClr val="tx2"/>
                </a:solidFill>
              </a:rPr>
              <a:t>+</a:t>
            </a:r>
            <a:endParaRPr lang="en-US" sz="2400" dirty="0"/>
          </a:p>
        </p:txBody>
      </p:sp>
      <p:sp>
        <p:nvSpPr>
          <p:cNvPr id="12" name="Text 10"/>
          <p:cNvSpPr txBox="1"/>
          <p:nvPr/>
        </p:nvSpPr>
        <p:spPr>
          <a:xfrm>
            <a:off x="5760720" y="1874520"/>
            <a:ext cx="1463040" cy="411480"/>
          </a:xfrm>
          <a:prstGeom prst="rect">
            <a:avLst/>
          </a:prstGeom>
          <a:noFill/>
          <a:ln/>
        </p:spPr>
        <p:txBody>
          <a:bodyPr wrap="square" lIns="0" tIns="0" rIns="0" bIns="0" rtlCol="0" anchor="t"/>
          <a:lstStyle/>
          <a:p>
            <a:pPr indent="0" marL="0">
              <a:buNone/>
            </a:pPr>
            <a:r>
              <a:rPr lang="en-US" sz="2400" b="1" dirty="0">
                <a:solidFill>
                  <a:schemeClr val="tx1"/>
                </a:solidFill>
              </a:rPr>
              <a:t>Severity</a:t>
            </a:r>
            <a:endParaRPr lang="en-US" sz="2400" dirty="0"/>
          </a:p>
        </p:txBody>
      </p:sp>
      <p:sp>
        <p:nvSpPr>
          <p:cNvPr id="13" name="Text 11"/>
          <p:cNvSpPr txBox="1"/>
          <p:nvPr/>
        </p:nvSpPr>
        <p:spPr>
          <a:xfrm>
            <a:off x="5760720" y="2377440"/>
            <a:ext cx="1463040" cy="548640"/>
          </a:xfrm>
          <a:prstGeom prst="rect">
            <a:avLst/>
          </a:prstGeom>
          <a:noFill/>
          <a:ln/>
        </p:spPr>
        <p:txBody>
          <a:bodyPr wrap="square" lIns="0" tIns="0" rIns="0" bIns="0" rtlCol="0" anchor="t"/>
          <a:lstStyle/>
          <a:p>
            <a:pPr indent="0" marL="0">
              <a:buNone/>
            </a:pPr>
            <a:r>
              <a:rPr lang="en-US" sz="1300" dirty="0">
                <a:solidFill>
                  <a:schemeClr val="tx2"/>
                </a:solidFill>
              </a:rPr>
              <a:t>how serious, how confident</a:t>
            </a:r>
            <a:endParaRPr lang="en-US" sz="1300" dirty="0"/>
          </a:p>
        </p:txBody>
      </p:sp>
      <p:sp>
        <p:nvSpPr>
          <p:cNvPr id="14" name="Text 12"/>
          <p:cNvSpPr txBox="1"/>
          <p:nvPr/>
        </p:nvSpPr>
        <p:spPr>
          <a:xfrm>
            <a:off x="6995160" y="1828800"/>
            <a:ext cx="457200" cy="457200"/>
          </a:xfrm>
          <a:prstGeom prst="rect">
            <a:avLst/>
          </a:prstGeom>
          <a:noFill/>
          <a:ln/>
        </p:spPr>
        <p:txBody>
          <a:bodyPr wrap="square" lIns="0" tIns="0" rIns="0" bIns="0" rtlCol="0" anchor="t"/>
          <a:lstStyle/>
          <a:p>
            <a:pPr algn="ctr" indent="0" marL="0">
              <a:buNone/>
            </a:pPr>
            <a:r>
              <a:rPr lang="en-US" sz="2400" dirty="0">
                <a:solidFill>
                  <a:schemeClr val="tx2"/>
                </a:solidFill>
              </a:rPr>
              <a:t>+</a:t>
            </a:r>
            <a:endParaRPr lang="en-US" sz="2400" dirty="0"/>
          </a:p>
        </p:txBody>
      </p:sp>
      <p:sp>
        <p:nvSpPr>
          <p:cNvPr id="15" name="Text 13"/>
          <p:cNvSpPr txBox="1"/>
          <p:nvPr/>
        </p:nvSpPr>
        <p:spPr>
          <a:xfrm>
            <a:off x="7498080" y="1874520"/>
            <a:ext cx="1463040" cy="411480"/>
          </a:xfrm>
          <a:prstGeom prst="rect">
            <a:avLst/>
          </a:prstGeom>
          <a:noFill/>
          <a:ln/>
        </p:spPr>
        <p:txBody>
          <a:bodyPr wrap="square" lIns="0" tIns="0" rIns="0" bIns="0" rtlCol="0" anchor="t"/>
          <a:lstStyle/>
          <a:p>
            <a:pPr indent="0" marL="0">
              <a:buNone/>
            </a:pPr>
            <a:r>
              <a:rPr lang="en-US" sz="2400" b="1" dirty="0">
                <a:solidFill>
                  <a:schemeClr val="accent2"/>
                </a:solidFill>
              </a:rPr>
              <a:t>Exposure</a:t>
            </a:r>
            <a:endParaRPr lang="en-US" sz="2400" dirty="0"/>
          </a:p>
        </p:txBody>
      </p:sp>
      <p:sp>
        <p:nvSpPr>
          <p:cNvPr id="16" name="Text 14"/>
          <p:cNvSpPr txBox="1"/>
          <p:nvPr/>
        </p:nvSpPr>
        <p:spPr>
          <a:xfrm>
            <a:off x="7498080" y="2377440"/>
            <a:ext cx="1463040" cy="548640"/>
          </a:xfrm>
          <a:prstGeom prst="rect">
            <a:avLst/>
          </a:prstGeom>
          <a:noFill/>
          <a:ln/>
        </p:spPr>
        <p:txBody>
          <a:bodyPr wrap="square" lIns="0" tIns="0" rIns="0" bIns="0" rtlCol="0" anchor="t"/>
          <a:lstStyle/>
          <a:p>
            <a:pPr indent="0" marL="0">
              <a:buNone/>
            </a:pPr>
            <a:r>
              <a:rPr lang="en-US" sz="1300" dirty="0">
                <a:solidFill>
                  <a:schemeClr val="tx2"/>
                </a:solidFill>
              </a:rPr>
              <a:t>who is connected, how much</a:t>
            </a:r>
            <a:endParaRPr lang="en-US" sz="1300" dirty="0"/>
          </a:p>
        </p:txBody>
      </p:sp>
      <p:sp>
        <p:nvSpPr>
          <p:cNvPr id="17" name="Text 15"/>
          <p:cNvSpPr txBox="1"/>
          <p:nvPr/>
        </p:nvSpPr>
        <p:spPr>
          <a:xfrm>
            <a:off x="8961120" y="1965960"/>
            <a:ext cx="365760" cy="457200"/>
          </a:xfrm>
          <a:prstGeom prst="rect">
            <a:avLst/>
          </a:prstGeom>
          <a:noFill/>
          <a:ln/>
        </p:spPr>
        <p:txBody>
          <a:bodyPr wrap="square" lIns="0" tIns="0" rIns="0" bIns="0" rtlCol="0" anchor="t"/>
          <a:lstStyle/>
          <a:p>
            <a:pPr algn="ctr" indent="0" marL="0">
              <a:buNone/>
            </a:pPr>
            <a:r>
              <a:rPr lang="en-US" sz="2800" dirty="0">
                <a:solidFill>
                  <a:schemeClr val="tx2"/>
                </a:solidFill>
              </a:rPr>
              <a:t>=</a:t>
            </a:r>
            <a:endParaRPr lang="en-US" sz="2800" dirty="0"/>
          </a:p>
        </p:txBody>
      </p:sp>
      <p:sp>
        <p:nvSpPr>
          <p:cNvPr id="18" name="Shape 16"/>
          <p:cNvSpPr/>
          <p:nvPr/>
        </p:nvSpPr>
        <p:spPr>
          <a:xfrm>
            <a:off x="9418320" y="1783080"/>
            <a:ext cx="2221992" cy="1280160"/>
          </a:xfrm>
          <a:prstGeom prst="rect">
            <a:avLst/>
          </a:prstGeom>
          <a:solidFill>
            <a:schemeClr val="tx1"/>
          </a:solidFill>
          <a:ln w="12700">
            <a:solidFill>
              <a:schemeClr val="tx1"/>
            </a:solidFill>
            <a:prstDash val="solid"/>
          </a:ln>
        </p:spPr>
      </p:sp>
      <p:sp>
        <p:nvSpPr>
          <p:cNvPr id="19" name="Text 17"/>
          <p:cNvSpPr txBox="1"/>
          <p:nvPr/>
        </p:nvSpPr>
        <p:spPr>
          <a:xfrm>
            <a:off x="9555480" y="1920240"/>
            <a:ext cx="1947672" cy="685800"/>
          </a:xfrm>
          <a:prstGeom prst="rect">
            <a:avLst/>
          </a:prstGeom>
          <a:noFill/>
          <a:ln/>
        </p:spPr>
        <p:txBody>
          <a:bodyPr wrap="square" lIns="0" tIns="0" rIns="0" bIns="0" rtlCol="0" anchor="t"/>
          <a:lstStyle/>
          <a:p>
            <a:pPr indent="0" marL="0">
              <a:buNone/>
            </a:pPr>
            <a:r>
              <a:rPr lang="en-US" sz="1900" b="1" dirty="0">
                <a:solidFill>
                  <a:schemeClr val="bg1"/>
                </a:solidFill>
              </a:rPr>
              <a:t>A structured risk scenario</a:t>
            </a:r>
            <a:endParaRPr lang="en-US" sz="1900" dirty="0"/>
          </a:p>
        </p:txBody>
      </p:sp>
      <p:sp>
        <p:nvSpPr>
          <p:cNvPr id="20" name="Text 18"/>
          <p:cNvSpPr txBox="1"/>
          <p:nvPr/>
        </p:nvSpPr>
        <p:spPr>
          <a:xfrm>
            <a:off x="9555480" y="2697480"/>
            <a:ext cx="1947672" cy="274320"/>
          </a:xfrm>
          <a:prstGeom prst="rect">
            <a:avLst/>
          </a:prstGeom>
          <a:noFill/>
          <a:ln/>
        </p:spPr>
        <p:txBody>
          <a:bodyPr wrap="square" lIns="0" tIns="0" rIns="0" bIns="0" rtlCol="0" anchor="t"/>
          <a:lstStyle/>
          <a:p>
            <a:pPr indent="0" marL="0">
              <a:buNone/>
            </a:pPr>
            <a:r>
              <a:rPr lang="en-US" sz="1200" dirty="0">
                <a:solidFill>
                  <a:srgbClr val="A9B8C9"/>
                </a:solidFill>
              </a:rPr>
              <a:t>explainable and inspectable</a:t>
            </a:r>
            <a:endParaRPr lang="en-US" sz="1200" dirty="0"/>
          </a:p>
        </p:txBody>
      </p:sp>
      <p:sp>
        <p:nvSpPr>
          <p:cNvPr id="21" name="Text 19"/>
          <p:cNvSpPr txBox="1"/>
          <p:nvPr/>
        </p:nvSpPr>
        <p:spPr>
          <a:xfrm>
            <a:off x="548640" y="3291840"/>
            <a:ext cx="8229600" cy="320040"/>
          </a:xfrm>
          <a:prstGeom prst="rect">
            <a:avLst/>
          </a:prstGeom>
          <a:noFill/>
          <a:ln/>
        </p:spPr>
        <p:txBody>
          <a:bodyPr wrap="square" lIns="0" tIns="0" rIns="0" bIns="0" rtlCol="0" anchor="t"/>
          <a:lstStyle/>
          <a:p>
            <a:pPr indent="0" marL="0">
              <a:buNone/>
            </a:pPr>
            <a:r>
              <a:rPr lang="en-US" sz="1400" i="1" dirty="0">
                <a:solidFill>
                  <a:schemeClr val="tx2"/>
                </a:solidFill>
              </a:rPr>
              <a:t>Sentiment feeds Severity as one input. It is a clue, not the answer.</a:t>
            </a:r>
            <a:endParaRPr lang="en-US" sz="1400" dirty="0"/>
          </a:p>
        </p:txBody>
      </p:sp>
      <p:sp>
        <p:nvSpPr>
          <p:cNvPr id="22" name="Shape 20"/>
          <p:cNvSpPr/>
          <p:nvPr/>
        </p:nvSpPr>
        <p:spPr>
          <a:xfrm>
            <a:off x="548640" y="3840480"/>
            <a:ext cx="11091672" cy="0"/>
          </a:xfrm>
          <a:prstGeom prst="line">
            <a:avLst/>
          </a:prstGeom>
          <a:noFill/>
          <a:ln w="9525">
            <a:solidFill>
              <a:srgbClr val="D5DBE3"/>
            </a:solidFill>
            <a:prstDash val="solid"/>
          </a:ln>
        </p:spPr>
      </p:sp>
      <p:sp>
        <p:nvSpPr>
          <p:cNvPr id="23" name="Text 21"/>
          <p:cNvSpPr txBox="1"/>
          <p:nvPr/>
        </p:nvSpPr>
        <p:spPr>
          <a:xfrm>
            <a:off x="548640" y="4069080"/>
            <a:ext cx="4389120" cy="228600"/>
          </a:xfrm>
          <a:prstGeom prst="rect">
            <a:avLst/>
          </a:prstGeom>
          <a:noFill/>
          <a:ln/>
        </p:spPr>
        <p:txBody>
          <a:bodyPr wrap="square" lIns="0" tIns="0" rIns="0" bIns="0" rtlCol="0" anchor="t"/>
          <a:lstStyle/>
          <a:p>
            <a:pPr indent="0" marL="0">
              <a:buNone/>
            </a:pPr>
            <a:r>
              <a:rPr lang="en-US" sz="1100" b="1" spc="100" kern="0" dirty="0">
                <a:solidFill>
                  <a:schemeClr val="accent3"/>
                </a:solidFill>
              </a:rPr>
              <a:t>A NEGATIVE HEADLINE SAYS</a:t>
            </a:r>
            <a:endParaRPr lang="en-US" sz="1100" dirty="0"/>
          </a:p>
        </p:txBody>
      </p:sp>
      <p:sp>
        <p:nvSpPr>
          <p:cNvPr id="24" name="Text 22"/>
          <p:cNvSpPr txBox="1"/>
          <p:nvPr/>
        </p:nvSpPr>
        <p:spPr>
          <a:xfrm>
            <a:off x="548640" y="4370832"/>
            <a:ext cx="4389120" cy="822960"/>
          </a:xfrm>
          <a:prstGeom prst="rect">
            <a:avLst/>
          </a:prstGeom>
          <a:noFill/>
          <a:ln/>
        </p:spPr>
        <p:txBody>
          <a:bodyPr wrap="square" lIns="0" tIns="0" rIns="0" bIns="0" rtlCol="0" anchor="t"/>
          <a:lstStyle/>
          <a:p>
            <a:pPr indent="0" marL="0">
              <a:buNone/>
            </a:pPr>
            <a:r>
              <a:rPr lang="en-US" sz="2000" b="1" dirty="0">
                <a:solidFill>
                  <a:schemeClr val="tx1"/>
                </a:solidFill>
              </a:rPr>
              <a:t>Something bad happened. The tone is negative.</a:t>
            </a:r>
            <a:endParaRPr lang="en-US" sz="2000" dirty="0"/>
          </a:p>
        </p:txBody>
      </p:sp>
      <p:sp>
        <p:nvSpPr>
          <p:cNvPr id="25" name="Shape 23"/>
          <p:cNvSpPr/>
          <p:nvPr/>
        </p:nvSpPr>
        <p:spPr>
          <a:xfrm>
            <a:off x="5257800" y="4069080"/>
            <a:ext cx="0" cy="1600200"/>
          </a:xfrm>
          <a:prstGeom prst="line">
            <a:avLst/>
          </a:prstGeom>
          <a:noFill/>
          <a:ln w="9525">
            <a:solidFill>
              <a:srgbClr val="D5DBE3"/>
            </a:solidFill>
            <a:prstDash val="solid"/>
          </a:ln>
        </p:spPr>
      </p:sp>
      <p:sp>
        <p:nvSpPr>
          <p:cNvPr id="26" name="Text 24"/>
          <p:cNvSpPr txBox="1"/>
          <p:nvPr/>
        </p:nvSpPr>
        <p:spPr>
          <a:xfrm>
            <a:off x="5577840" y="4069080"/>
            <a:ext cx="603504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A RISK ASSESSMENT ASKS</a:t>
            </a:r>
            <a:endParaRPr lang="en-US" sz="1100" dirty="0"/>
          </a:p>
        </p:txBody>
      </p:sp>
      <p:sp>
        <p:nvSpPr>
          <p:cNvPr id="27" name="Text 25"/>
          <p:cNvSpPr txBox="1"/>
          <p:nvPr/>
        </p:nvSpPr>
        <p:spPr>
          <a:xfrm>
            <a:off x="5577840" y="4370832"/>
            <a:ext cx="6035040" cy="13716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What exactly happened, and to which entity?</a:t>
            </a:r>
            <a:endParaRPr lang="en-US" sz="1600" dirty="0"/>
          </a:p>
          <a:p>
            <a:pPr marL="177800" indent="-177800">
              <a:spcAft>
                <a:spcPts val="600"/>
              </a:spcAft>
              <a:buSzPct val="100000"/>
              <a:buChar char="•"/>
            </a:pPr>
            <a:r>
              <a:rPr lang="en-US" sz="1600" dirty="0">
                <a:solidFill>
                  <a:schemeClr val="tx1"/>
                </a:solidFill>
              </a:rPr>
              <a:t>How severe is it, and how well is it supported?</a:t>
            </a:r>
            <a:endParaRPr lang="en-US" sz="1600" dirty="0"/>
          </a:p>
          <a:p>
            <a:pPr marL="177800" indent="-177800">
              <a:spcAft>
                <a:spcPts val="600"/>
              </a:spcAft>
              <a:buSzPct val="100000"/>
              <a:buChar char="•"/>
            </a:pPr>
            <a:r>
              <a:rPr lang="en-US" sz="1600" dirty="0">
                <a:solidFill>
                  <a:schemeClr val="tx1"/>
                </a:solidFill>
              </a:rPr>
              <a:t>Who is connected to that entity?</a:t>
            </a:r>
            <a:endParaRPr lang="en-US" sz="1600" dirty="0"/>
          </a:p>
          <a:p>
            <a:pPr marL="177800" indent="-177800">
              <a:spcAft>
                <a:spcPts val="600"/>
              </a:spcAft>
              <a:buSzPct val="100000"/>
              <a:buChar char="•"/>
            </a:pPr>
            <a:r>
              <a:rPr lang="en-US" sz="1600" dirty="0">
                <a:solidFill>
                  <a:schemeClr val="tx1"/>
                </a:solidFill>
              </a:rPr>
              <a:t>How much exposure sits on those links?</a:t>
            </a:r>
            <a:endParaRPr lang="en-US" sz="1600" dirty="0"/>
          </a:p>
        </p:txBody>
      </p:sp>
      <p:sp>
        <p:nvSpPr>
          <p:cNvPr id="28" name="Text 26"/>
          <p:cNvSpPr txBox="1"/>
          <p:nvPr/>
        </p:nvSpPr>
        <p:spPr>
          <a:xfrm>
            <a:off x="548640" y="5897880"/>
            <a:ext cx="11091672" cy="320040"/>
          </a:xfrm>
          <a:prstGeom prst="rect">
            <a:avLst/>
          </a:prstGeom>
          <a:noFill/>
          <a:ln/>
        </p:spPr>
        <p:txBody>
          <a:bodyPr wrap="square" lIns="0" tIns="0" rIns="0" bIns="0" rtlCol="0" anchor="t"/>
          <a:lstStyle/>
          <a:p>
            <a:pPr indent="0" marL="0">
              <a:buNone/>
            </a:pPr>
            <a:r>
              <a:rPr lang="en-US" sz="1600" i="1" dirty="0">
                <a:solidFill>
                  <a:schemeClr val="tx2"/>
                </a:solidFill>
              </a:rPr>
              <a:t>The same headline can matter a lot to one portfolio and not at all to another.</a:t>
            </a:r>
            <a:endParaRPr lang="en-US" sz="16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lIns="0" tIns="0" rIns="0" bIns="0" rtlCol="0" anchor="t"/>
          <a:lstStyle/>
          <a:p>
            <a:pPr algn="l" indent="0" marL="0">
              <a:buNone/>
            </a:pPr>
            <a:r>
              <a:rPr lang="en-US" sz="3200" b="1" dirty="0">
                <a:solidFill>
                  <a:schemeClr val="tx1"/>
                </a:solidFill>
              </a:rPr>
              <a:t>One transparent path from public information to portfolio stress</a:t>
            </a:r>
            <a:endParaRPr lang="en-US" sz="3200" dirty="0"/>
          </a:p>
        </p:txBody>
      </p:sp>
      <p:sp>
        <p:nvSpPr>
          <p:cNvPr id="3" name="Shape 1"/>
          <p:cNvSpPr/>
          <p:nvPr/>
        </p:nvSpPr>
        <p:spPr>
          <a:xfrm>
            <a:off x="548640" y="1737360"/>
            <a:ext cx="2423160" cy="1463040"/>
          </a:xfrm>
          <a:prstGeom prst="rect">
            <a:avLst/>
          </a:prstGeom>
          <a:solidFill>
            <a:srgbClr val="E8ECF1"/>
          </a:solidFill>
          <a:ln w="12700">
            <a:solidFill>
              <a:schemeClr val="tx2"/>
            </a:solidFill>
            <a:prstDash val="solid"/>
          </a:ln>
        </p:spPr>
      </p:sp>
      <p:sp>
        <p:nvSpPr>
          <p:cNvPr id="4" name="Text 2"/>
          <p:cNvSpPr txBox="1"/>
          <p:nvPr/>
        </p:nvSpPr>
        <p:spPr>
          <a:xfrm>
            <a:off x="685800" y="1847088"/>
            <a:ext cx="2148840" cy="201168"/>
          </a:xfrm>
          <a:prstGeom prst="rect">
            <a:avLst/>
          </a:prstGeom>
          <a:noFill/>
          <a:ln/>
        </p:spPr>
        <p:txBody>
          <a:bodyPr wrap="square" lIns="0" tIns="0" rIns="0" bIns="0" rtlCol="0" anchor="t"/>
          <a:lstStyle/>
          <a:p>
            <a:pPr indent="0" marL="0">
              <a:buNone/>
            </a:pPr>
            <a:r>
              <a:rPr lang="en-US" sz="1000" b="1" spc="100" kern="0" dirty="0">
                <a:solidFill>
                  <a:schemeClr val="tx2"/>
                </a:solidFill>
              </a:rPr>
              <a:t>1 · SOURCE DATA</a:t>
            </a:r>
            <a:endParaRPr lang="en-US" sz="1000" dirty="0"/>
          </a:p>
        </p:txBody>
      </p:sp>
      <p:sp>
        <p:nvSpPr>
          <p:cNvPr id="5" name="Text 3"/>
          <p:cNvSpPr txBox="1"/>
          <p:nvPr/>
        </p:nvSpPr>
        <p:spPr>
          <a:xfrm>
            <a:off x="685800" y="2103120"/>
            <a:ext cx="2148840" cy="320040"/>
          </a:xfrm>
          <a:prstGeom prst="rect">
            <a:avLst/>
          </a:prstGeom>
          <a:noFill/>
          <a:ln/>
        </p:spPr>
        <p:txBody>
          <a:bodyPr wrap="square" lIns="0" tIns="0" rIns="0" bIns="0" rtlCol="0" anchor="t"/>
          <a:lstStyle/>
          <a:p>
            <a:pPr indent="0" marL="0">
              <a:buNone/>
            </a:pPr>
            <a:r>
              <a:rPr lang="en-US" sz="1700" b="1" dirty="0">
                <a:solidFill>
                  <a:schemeClr val="tx1"/>
                </a:solidFill>
              </a:rPr>
              <a:t>Public sources</a:t>
            </a:r>
            <a:endParaRPr lang="en-US" sz="1700" dirty="0"/>
          </a:p>
        </p:txBody>
      </p:sp>
      <p:sp>
        <p:nvSpPr>
          <p:cNvPr id="6" name="Text 4"/>
          <p:cNvSpPr txBox="1"/>
          <p:nvPr/>
        </p:nvSpPr>
        <p:spPr>
          <a:xfrm>
            <a:off x="685800" y="2468880"/>
            <a:ext cx="2148840" cy="685800"/>
          </a:xfrm>
          <a:prstGeom prst="rect">
            <a:avLst/>
          </a:prstGeom>
          <a:noFill/>
          <a:ln/>
        </p:spPr>
        <p:txBody>
          <a:bodyPr wrap="square" lIns="0" tIns="0" rIns="0" bIns="0" rtlCol="0" anchor="t"/>
          <a:lstStyle/>
          <a:p>
            <a:pPr indent="0" marL="0">
              <a:buNone/>
            </a:pPr>
            <a:r>
              <a:rPr lang="en-US" sz="1200" dirty="0">
                <a:solidFill>
                  <a:schemeClr val="tx2"/>
                </a:solidFill>
              </a:rPr>
              <a:t>Financial-news RSS + SEC 8-K filings</a:t>
            </a:r>
            <a:endParaRPr lang="en-US" sz="1200" dirty="0"/>
          </a:p>
        </p:txBody>
      </p:sp>
      <p:sp>
        <p:nvSpPr>
          <p:cNvPr id="7" name="Shape 5"/>
          <p:cNvSpPr/>
          <p:nvPr/>
        </p:nvSpPr>
        <p:spPr>
          <a:xfrm>
            <a:off x="3008376" y="2468880"/>
            <a:ext cx="338328" cy="0"/>
          </a:xfrm>
          <a:prstGeom prst="line">
            <a:avLst/>
          </a:prstGeom>
          <a:noFill/>
          <a:ln w="22225">
            <a:solidFill>
              <a:schemeClr val="tx2"/>
            </a:solidFill>
            <a:prstDash val="solid"/>
            <a:tailEnd type="triangle"/>
          </a:ln>
        </p:spPr>
      </p:sp>
      <p:sp>
        <p:nvSpPr>
          <p:cNvPr id="8" name="Shape 6"/>
          <p:cNvSpPr/>
          <p:nvPr/>
        </p:nvSpPr>
        <p:spPr>
          <a:xfrm>
            <a:off x="3383280" y="1737360"/>
            <a:ext cx="2423160" cy="1463040"/>
          </a:xfrm>
          <a:prstGeom prst="rect">
            <a:avLst/>
          </a:prstGeom>
          <a:solidFill>
            <a:srgbClr val="E8ECF1"/>
          </a:solidFill>
          <a:ln w="12700">
            <a:solidFill>
              <a:schemeClr val="tx2"/>
            </a:solidFill>
            <a:prstDash val="solid"/>
          </a:ln>
        </p:spPr>
      </p:sp>
      <p:sp>
        <p:nvSpPr>
          <p:cNvPr id="9" name="Text 7"/>
          <p:cNvSpPr txBox="1"/>
          <p:nvPr/>
        </p:nvSpPr>
        <p:spPr>
          <a:xfrm>
            <a:off x="3520440" y="1847088"/>
            <a:ext cx="2148840" cy="201168"/>
          </a:xfrm>
          <a:prstGeom prst="rect">
            <a:avLst/>
          </a:prstGeom>
          <a:noFill/>
          <a:ln/>
        </p:spPr>
        <p:txBody>
          <a:bodyPr wrap="square" lIns="0" tIns="0" rIns="0" bIns="0" rtlCol="0" anchor="t"/>
          <a:lstStyle/>
          <a:p>
            <a:pPr indent="0" marL="0">
              <a:buNone/>
            </a:pPr>
            <a:r>
              <a:rPr lang="en-US" sz="1000" b="1" spc="100" kern="0" dirty="0">
                <a:solidFill>
                  <a:schemeClr val="tx2"/>
                </a:solidFill>
              </a:rPr>
              <a:t>2 · SOURCE DATA</a:t>
            </a:r>
            <a:endParaRPr lang="en-US" sz="1000" dirty="0"/>
          </a:p>
        </p:txBody>
      </p:sp>
      <p:sp>
        <p:nvSpPr>
          <p:cNvPr id="10" name="Text 8"/>
          <p:cNvSpPr txBox="1"/>
          <p:nvPr/>
        </p:nvSpPr>
        <p:spPr>
          <a:xfrm>
            <a:off x="3520440" y="2103120"/>
            <a:ext cx="2148840" cy="320040"/>
          </a:xfrm>
          <a:prstGeom prst="rect">
            <a:avLst/>
          </a:prstGeom>
          <a:noFill/>
          <a:ln/>
        </p:spPr>
        <p:txBody>
          <a:bodyPr wrap="square" lIns="0" tIns="0" rIns="0" bIns="0" rtlCol="0" anchor="t"/>
          <a:lstStyle/>
          <a:p>
            <a:pPr indent="0" marL="0">
              <a:buNone/>
            </a:pPr>
            <a:r>
              <a:rPr lang="en-US" sz="1700" b="1" dirty="0">
                <a:solidFill>
                  <a:schemeClr val="tx1"/>
                </a:solidFill>
              </a:rPr>
              <a:t>Extraction &amp; tagging</a:t>
            </a:r>
            <a:endParaRPr lang="en-US" sz="1700" dirty="0"/>
          </a:p>
        </p:txBody>
      </p:sp>
      <p:sp>
        <p:nvSpPr>
          <p:cNvPr id="11" name="Text 9"/>
          <p:cNvSpPr txBox="1"/>
          <p:nvPr/>
        </p:nvSpPr>
        <p:spPr>
          <a:xfrm>
            <a:off x="3520440" y="2468880"/>
            <a:ext cx="2148840" cy="685800"/>
          </a:xfrm>
          <a:prstGeom prst="rect">
            <a:avLst/>
          </a:prstGeom>
          <a:noFill/>
          <a:ln/>
        </p:spPr>
        <p:txBody>
          <a:bodyPr wrap="square" lIns="0" tIns="0" rIns="0" bIns="0" rtlCol="0" anchor="t"/>
          <a:lstStyle/>
          <a:p>
            <a:pPr indent="0" marL="0">
              <a:buNone/>
            </a:pPr>
            <a:r>
              <a:rPr lang="en-US" sz="1200" dirty="0">
                <a:solidFill>
                  <a:schemeClr val="tx2"/>
                </a:solidFill>
              </a:rPr>
              <a:t>Article / filing text, tagged full text, summary or headline</a:t>
            </a:r>
            <a:endParaRPr lang="en-US" sz="1200" dirty="0"/>
          </a:p>
        </p:txBody>
      </p:sp>
      <p:sp>
        <p:nvSpPr>
          <p:cNvPr id="12" name="Shape 10"/>
          <p:cNvSpPr/>
          <p:nvPr/>
        </p:nvSpPr>
        <p:spPr>
          <a:xfrm>
            <a:off x="5843016" y="2468880"/>
            <a:ext cx="338328" cy="0"/>
          </a:xfrm>
          <a:prstGeom prst="line">
            <a:avLst/>
          </a:prstGeom>
          <a:noFill/>
          <a:ln w="22225">
            <a:solidFill>
              <a:schemeClr val="tx2"/>
            </a:solidFill>
            <a:prstDash val="solid"/>
            <a:tailEnd type="triangle"/>
          </a:ln>
        </p:spPr>
      </p:sp>
      <p:sp>
        <p:nvSpPr>
          <p:cNvPr id="13" name="Shape 11"/>
          <p:cNvSpPr/>
          <p:nvPr/>
        </p:nvSpPr>
        <p:spPr>
          <a:xfrm>
            <a:off x="6217920" y="1737360"/>
            <a:ext cx="2423160" cy="1463040"/>
          </a:xfrm>
          <a:prstGeom prst="rect">
            <a:avLst/>
          </a:prstGeom>
          <a:solidFill>
            <a:srgbClr val="DCEFEC"/>
          </a:solidFill>
          <a:ln w="12700">
            <a:solidFill>
              <a:schemeClr val="accent1"/>
            </a:solidFill>
            <a:prstDash val="solid"/>
          </a:ln>
        </p:spPr>
      </p:sp>
      <p:sp>
        <p:nvSpPr>
          <p:cNvPr id="14" name="Text 12"/>
          <p:cNvSpPr txBox="1"/>
          <p:nvPr/>
        </p:nvSpPr>
        <p:spPr>
          <a:xfrm>
            <a:off x="6355080" y="1847088"/>
            <a:ext cx="214884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3 · AI / NLP</a:t>
            </a:r>
            <a:endParaRPr lang="en-US" sz="1000" dirty="0"/>
          </a:p>
        </p:txBody>
      </p:sp>
      <p:sp>
        <p:nvSpPr>
          <p:cNvPr id="15" name="Text 13"/>
          <p:cNvSpPr txBox="1"/>
          <p:nvPr/>
        </p:nvSpPr>
        <p:spPr>
          <a:xfrm>
            <a:off x="6355080" y="2103120"/>
            <a:ext cx="2148840" cy="320040"/>
          </a:xfrm>
          <a:prstGeom prst="rect">
            <a:avLst/>
          </a:prstGeom>
          <a:noFill/>
          <a:ln/>
        </p:spPr>
        <p:txBody>
          <a:bodyPr wrap="square" lIns="0" tIns="0" rIns="0" bIns="0" rtlCol="0" anchor="t"/>
          <a:lstStyle/>
          <a:p>
            <a:pPr indent="0" marL="0">
              <a:buNone/>
            </a:pPr>
            <a:r>
              <a:rPr lang="en-US" sz="1700" b="1" dirty="0">
                <a:solidFill>
                  <a:schemeClr val="tx1"/>
                </a:solidFill>
              </a:rPr>
              <a:t>Local NLP</a:t>
            </a:r>
            <a:endParaRPr lang="en-US" sz="1700" dirty="0"/>
          </a:p>
        </p:txBody>
      </p:sp>
      <p:sp>
        <p:nvSpPr>
          <p:cNvPr id="16" name="Text 14"/>
          <p:cNvSpPr txBox="1"/>
          <p:nvPr/>
        </p:nvSpPr>
        <p:spPr>
          <a:xfrm>
            <a:off x="6355080" y="2468880"/>
            <a:ext cx="2148840" cy="685800"/>
          </a:xfrm>
          <a:prstGeom prst="rect">
            <a:avLst/>
          </a:prstGeom>
          <a:noFill/>
          <a:ln/>
        </p:spPr>
        <p:txBody>
          <a:bodyPr wrap="square" lIns="0" tIns="0" rIns="0" bIns="0" rtlCol="0" anchor="t"/>
          <a:lstStyle/>
          <a:p>
            <a:pPr indent="0" marL="0">
              <a:buNone/>
            </a:pPr>
            <a:r>
              <a:rPr lang="en-US" sz="1200" dirty="0">
                <a:solidFill>
                  <a:schemeClr val="tx2"/>
                </a:solidFill>
              </a:rPr>
              <a:t>FinBERT sentiment · Qwen3-8B (Ollama) event extraction · keyword baseline</a:t>
            </a:r>
            <a:endParaRPr lang="en-US" sz="1200" dirty="0"/>
          </a:p>
        </p:txBody>
      </p:sp>
      <p:sp>
        <p:nvSpPr>
          <p:cNvPr id="17" name="Shape 15"/>
          <p:cNvSpPr/>
          <p:nvPr/>
        </p:nvSpPr>
        <p:spPr>
          <a:xfrm>
            <a:off x="8677656" y="2468880"/>
            <a:ext cx="338328" cy="0"/>
          </a:xfrm>
          <a:prstGeom prst="line">
            <a:avLst/>
          </a:prstGeom>
          <a:noFill/>
          <a:ln w="22225">
            <a:solidFill>
              <a:schemeClr val="tx2"/>
            </a:solidFill>
            <a:prstDash val="solid"/>
            <a:tailEnd type="triangle"/>
          </a:ln>
        </p:spPr>
      </p:sp>
      <p:sp>
        <p:nvSpPr>
          <p:cNvPr id="18" name="Shape 16"/>
          <p:cNvSpPr/>
          <p:nvPr/>
        </p:nvSpPr>
        <p:spPr>
          <a:xfrm>
            <a:off x="9052560" y="1737360"/>
            <a:ext cx="2423160" cy="1463040"/>
          </a:xfrm>
          <a:prstGeom prst="rect">
            <a:avLst/>
          </a:prstGeom>
          <a:solidFill>
            <a:srgbClr val="DCEFEC"/>
          </a:solidFill>
          <a:ln w="12700">
            <a:solidFill>
              <a:schemeClr val="accent1"/>
            </a:solidFill>
            <a:prstDash val="solid"/>
          </a:ln>
        </p:spPr>
      </p:sp>
      <p:sp>
        <p:nvSpPr>
          <p:cNvPr id="19" name="Text 17"/>
          <p:cNvSpPr txBox="1"/>
          <p:nvPr/>
        </p:nvSpPr>
        <p:spPr>
          <a:xfrm>
            <a:off x="9189720" y="1847088"/>
            <a:ext cx="214884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4 · AI / NLP</a:t>
            </a:r>
            <a:endParaRPr lang="en-US" sz="1000" dirty="0"/>
          </a:p>
        </p:txBody>
      </p:sp>
      <p:sp>
        <p:nvSpPr>
          <p:cNvPr id="20" name="Text 18"/>
          <p:cNvSpPr txBox="1"/>
          <p:nvPr/>
        </p:nvSpPr>
        <p:spPr>
          <a:xfrm>
            <a:off x="9189720" y="2103120"/>
            <a:ext cx="2148840" cy="320040"/>
          </a:xfrm>
          <a:prstGeom prst="rect">
            <a:avLst/>
          </a:prstGeom>
          <a:noFill/>
          <a:ln/>
        </p:spPr>
        <p:txBody>
          <a:bodyPr wrap="square" lIns="0" tIns="0" rIns="0" bIns="0" rtlCol="0" anchor="t"/>
          <a:lstStyle/>
          <a:p>
            <a:pPr indent="0" marL="0">
              <a:buNone/>
            </a:pPr>
            <a:r>
              <a:rPr lang="en-US" sz="1700" b="1" dirty="0">
                <a:solidFill>
                  <a:schemeClr val="tx1"/>
                </a:solidFill>
              </a:rPr>
              <a:t>Evidence fusion</a:t>
            </a:r>
            <a:endParaRPr lang="en-US" sz="1700" dirty="0"/>
          </a:p>
        </p:txBody>
      </p:sp>
      <p:sp>
        <p:nvSpPr>
          <p:cNvPr id="21" name="Text 19"/>
          <p:cNvSpPr txBox="1"/>
          <p:nvPr/>
        </p:nvSpPr>
        <p:spPr>
          <a:xfrm>
            <a:off x="9189720" y="2468880"/>
            <a:ext cx="2148840" cy="685800"/>
          </a:xfrm>
          <a:prstGeom prst="rect">
            <a:avLst/>
          </a:prstGeom>
          <a:noFill/>
          <a:ln/>
        </p:spPr>
        <p:txBody>
          <a:bodyPr wrap="square" lIns="0" tIns="0" rIns="0" bIns="0" rtlCol="0" anchor="t"/>
          <a:lstStyle/>
          <a:p>
            <a:pPr indent="0" marL="0">
              <a:buNone/>
            </a:pPr>
            <a:r>
              <a:rPr lang="en-US" sz="1200" dirty="0">
                <a:solidFill>
                  <a:schemeClr val="tx2"/>
                </a:solidFill>
              </a:rPr>
              <a:t>Quotation, entity and event checks; flags items for review</a:t>
            </a:r>
            <a:endParaRPr lang="en-US" sz="1200" dirty="0"/>
          </a:p>
        </p:txBody>
      </p:sp>
      <p:sp>
        <p:nvSpPr>
          <p:cNvPr id="22" name="Shape 20"/>
          <p:cNvSpPr/>
          <p:nvPr/>
        </p:nvSpPr>
        <p:spPr>
          <a:xfrm>
            <a:off x="548640" y="3749040"/>
            <a:ext cx="2423160" cy="1463040"/>
          </a:xfrm>
          <a:prstGeom prst="rect">
            <a:avLst/>
          </a:prstGeom>
          <a:solidFill>
            <a:srgbClr val="DDE6EF"/>
          </a:solidFill>
          <a:ln w="12700">
            <a:solidFill>
              <a:schemeClr val="tx1"/>
            </a:solidFill>
            <a:prstDash val="solid"/>
          </a:ln>
        </p:spPr>
      </p:sp>
      <p:sp>
        <p:nvSpPr>
          <p:cNvPr id="23" name="Text 21"/>
          <p:cNvSpPr txBox="1"/>
          <p:nvPr/>
        </p:nvSpPr>
        <p:spPr>
          <a:xfrm>
            <a:off x="685800" y="3858768"/>
            <a:ext cx="2148840" cy="201168"/>
          </a:xfrm>
          <a:prstGeom prst="rect">
            <a:avLst/>
          </a:prstGeom>
          <a:noFill/>
          <a:ln/>
        </p:spPr>
        <p:txBody>
          <a:bodyPr wrap="square" lIns="0" tIns="0" rIns="0" bIns="0" rtlCol="0" anchor="t"/>
          <a:lstStyle/>
          <a:p>
            <a:pPr indent="0" marL="0">
              <a:buNone/>
            </a:pPr>
            <a:r>
              <a:rPr lang="en-US" sz="1000" b="1" spc="100" kern="0" dirty="0">
                <a:solidFill>
                  <a:schemeClr val="tx1"/>
                </a:solidFill>
              </a:rPr>
              <a:t>5 · FINANCIAL MODELLING</a:t>
            </a:r>
            <a:endParaRPr lang="en-US" sz="1000" dirty="0"/>
          </a:p>
        </p:txBody>
      </p:sp>
      <p:sp>
        <p:nvSpPr>
          <p:cNvPr id="24" name="Text 22"/>
          <p:cNvSpPr txBox="1"/>
          <p:nvPr/>
        </p:nvSpPr>
        <p:spPr>
          <a:xfrm>
            <a:off x="685800" y="4114800"/>
            <a:ext cx="2148840" cy="320040"/>
          </a:xfrm>
          <a:prstGeom prst="rect">
            <a:avLst/>
          </a:prstGeom>
          <a:noFill/>
          <a:ln/>
        </p:spPr>
        <p:txBody>
          <a:bodyPr wrap="square" lIns="0" tIns="0" rIns="0" bIns="0" rtlCol="0" anchor="t"/>
          <a:lstStyle/>
          <a:p>
            <a:pPr indent="0" marL="0">
              <a:buNone/>
            </a:pPr>
            <a:r>
              <a:rPr lang="en-US" sz="1700" b="1" dirty="0">
                <a:solidFill>
                  <a:schemeClr val="tx1"/>
                </a:solidFill>
              </a:rPr>
              <a:t>FactorLens</a:t>
            </a:r>
            <a:endParaRPr lang="en-US" sz="1700" dirty="0"/>
          </a:p>
        </p:txBody>
      </p:sp>
      <p:sp>
        <p:nvSpPr>
          <p:cNvPr id="25" name="Text 23"/>
          <p:cNvSpPr txBox="1"/>
          <p:nvPr/>
        </p:nvSpPr>
        <p:spPr>
          <a:xfrm>
            <a:off x="685800" y="4480560"/>
            <a:ext cx="2148840" cy="685800"/>
          </a:xfrm>
          <a:prstGeom prst="rect">
            <a:avLst/>
          </a:prstGeom>
          <a:noFill/>
          <a:ln/>
        </p:spPr>
        <p:txBody>
          <a:bodyPr wrap="square" lIns="0" tIns="0" rIns="0" bIns="0" rtlCol="0" anchor="t"/>
          <a:lstStyle/>
          <a:p>
            <a:pPr indent="0" marL="0">
              <a:buNone/>
            </a:pPr>
            <a:r>
              <a:rPr lang="en-US" sz="1200" dirty="0">
                <a:solidFill>
                  <a:schemeClr val="tx2"/>
                </a:solidFill>
              </a:rPr>
              <a:t>Event → financial factor → assumed PD shock</a:t>
            </a:r>
            <a:endParaRPr lang="en-US" sz="1200" dirty="0"/>
          </a:p>
        </p:txBody>
      </p:sp>
      <p:sp>
        <p:nvSpPr>
          <p:cNvPr id="26" name="Shape 24"/>
          <p:cNvSpPr/>
          <p:nvPr/>
        </p:nvSpPr>
        <p:spPr>
          <a:xfrm>
            <a:off x="3008376" y="4480560"/>
            <a:ext cx="338328" cy="0"/>
          </a:xfrm>
          <a:prstGeom prst="line">
            <a:avLst/>
          </a:prstGeom>
          <a:noFill/>
          <a:ln w="22225">
            <a:solidFill>
              <a:schemeClr val="tx2"/>
            </a:solidFill>
            <a:prstDash val="solid"/>
            <a:tailEnd type="triangle"/>
          </a:ln>
        </p:spPr>
      </p:sp>
      <p:sp>
        <p:nvSpPr>
          <p:cNvPr id="27" name="Shape 25"/>
          <p:cNvSpPr/>
          <p:nvPr/>
        </p:nvSpPr>
        <p:spPr>
          <a:xfrm>
            <a:off x="3383280" y="3749040"/>
            <a:ext cx="2423160" cy="1463040"/>
          </a:xfrm>
          <a:prstGeom prst="rect">
            <a:avLst/>
          </a:prstGeom>
          <a:solidFill>
            <a:srgbClr val="DDE6EF"/>
          </a:solidFill>
          <a:ln w="12700">
            <a:solidFill>
              <a:schemeClr val="tx1"/>
            </a:solidFill>
            <a:prstDash val="solid"/>
          </a:ln>
        </p:spPr>
      </p:sp>
      <p:sp>
        <p:nvSpPr>
          <p:cNvPr id="28" name="Text 26"/>
          <p:cNvSpPr txBox="1"/>
          <p:nvPr/>
        </p:nvSpPr>
        <p:spPr>
          <a:xfrm>
            <a:off x="3520440" y="3858768"/>
            <a:ext cx="2148840" cy="201168"/>
          </a:xfrm>
          <a:prstGeom prst="rect">
            <a:avLst/>
          </a:prstGeom>
          <a:noFill/>
          <a:ln/>
        </p:spPr>
        <p:txBody>
          <a:bodyPr wrap="square" lIns="0" tIns="0" rIns="0" bIns="0" rtlCol="0" anchor="t"/>
          <a:lstStyle/>
          <a:p>
            <a:pPr indent="0" marL="0">
              <a:buNone/>
            </a:pPr>
            <a:r>
              <a:rPr lang="en-US" sz="1000" b="1" spc="100" kern="0" dirty="0">
                <a:solidFill>
                  <a:schemeClr val="tx1"/>
                </a:solidFill>
              </a:rPr>
              <a:t>6 · FINANCIAL MODELLING</a:t>
            </a:r>
            <a:endParaRPr lang="en-US" sz="1000" dirty="0"/>
          </a:p>
        </p:txBody>
      </p:sp>
      <p:sp>
        <p:nvSpPr>
          <p:cNvPr id="29" name="Text 27"/>
          <p:cNvSpPr txBox="1"/>
          <p:nvPr/>
        </p:nvSpPr>
        <p:spPr>
          <a:xfrm>
            <a:off x="3520440" y="4114800"/>
            <a:ext cx="2148840" cy="320040"/>
          </a:xfrm>
          <a:prstGeom prst="rect">
            <a:avLst/>
          </a:prstGeom>
          <a:noFill/>
          <a:ln/>
        </p:spPr>
        <p:txBody>
          <a:bodyPr wrap="square" lIns="0" tIns="0" rIns="0" bIns="0" rtlCol="0" anchor="t"/>
          <a:lstStyle/>
          <a:p>
            <a:pPr indent="0" marL="0">
              <a:buNone/>
            </a:pPr>
            <a:r>
              <a:rPr lang="en-US" sz="1700" b="1" dirty="0">
                <a:solidFill>
                  <a:schemeClr val="tx1"/>
                </a:solidFill>
              </a:rPr>
              <a:t>Exposure graph</a:t>
            </a:r>
            <a:endParaRPr lang="en-US" sz="1700" dirty="0"/>
          </a:p>
        </p:txBody>
      </p:sp>
      <p:sp>
        <p:nvSpPr>
          <p:cNvPr id="30" name="Text 28"/>
          <p:cNvSpPr txBox="1"/>
          <p:nvPr/>
        </p:nvSpPr>
        <p:spPr>
          <a:xfrm>
            <a:off x="3520440" y="4480560"/>
            <a:ext cx="2148840" cy="685800"/>
          </a:xfrm>
          <a:prstGeom prst="rect">
            <a:avLst/>
          </a:prstGeom>
          <a:noFill/>
          <a:ln/>
        </p:spPr>
        <p:txBody>
          <a:bodyPr wrap="square" lIns="0" tIns="0" rIns="0" bIns="0" rtlCol="0" anchor="t"/>
          <a:lstStyle/>
          <a:p>
            <a:pPr indent="0" marL="0">
              <a:buNone/>
            </a:pPr>
            <a:r>
              <a:rPr lang="en-US" sz="1200" dirty="0">
                <a:solidFill>
                  <a:schemeClr val="tx2"/>
                </a:solidFill>
              </a:rPr>
              <a:t>NetworkX; shock propagates along weighted, attenuated edges</a:t>
            </a:r>
            <a:endParaRPr lang="en-US" sz="1200" dirty="0"/>
          </a:p>
        </p:txBody>
      </p:sp>
      <p:sp>
        <p:nvSpPr>
          <p:cNvPr id="31" name="Shape 29"/>
          <p:cNvSpPr/>
          <p:nvPr/>
        </p:nvSpPr>
        <p:spPr>
          <a:xfrm>
            <a:off x="5843016" y="4480560"/>
            <a:ext cx="338328" cy="0"/>
          </a:xfrm>
          <a:prstGeom prst="line">
            <a:avLst/>
          </a:prstGeom>
          <a:noFill/>
          <a:ln w="22225">
            <a:solidFill>
              <a:schemeClr val="tx2"/>
            </a:solidFill>
            <a:prstDash val="solid"/>
            <a:tailEnd type="triangle"/>
          </a:ln>
        </p:spPr>
      </p:sp>
      <p:sp>
        <p:nvSpPr>
          <p:cNvPr id="32" name="Shape 30"/>
          <p:cNvSpPr/>
          <p:nvPr/>
        </p:nvSpPr>
        <p:spPr>
          <a:xfrm>
            <a:off x="6217920" y="3749040"/>
            <a:ext cx="2423160" cy="1463040"/>
          </a:xfrm>
          <a:prstGeom prst="rect">
            <a:avLst/>
          </a:prstGeom>
          <a:solidFill>
            <a:srgbClr val="DDE6EF"/>
          </a:solidFill>
          <a:ln w="12700">
            <a:solidFill>
              <a:schemeClr val="tx1"/>
            </a:solidFill>
            <a:prstDash val="solid"/>
          </a:ln>
        </p:spPr>
      </p:sp>
      <p:sp>
        <p:nvSpPr>
          <p:cNvPr id="33" name="Text 31"/>
          <p:cNvSpPr txBox="1"/>
          <p:nvPr/>
        </p:nvSpPr>
        <p:spPr>
          <a:xfrm>
            <a:off x="6355080" y="3858768"/>
            <a:ext cx="2148840" cy="201168"/>
          </a:xfrm>
          <a:prstGeom prst="rect">
            <a:avLst/>
          </a:prstGeom>
          <a:noFill/>
          <a:ln/>
        </p:spPr>
        <p:txBody>
          <a:bodyPr wrap="square" lIns="0" tIns="0" rIns="0" bIns="0" rtlCol="0" anchor="t"/>
          <a:lstStyle/>
          <a:p>
            <a:pPr indent="0" marL="0">
              <a:buNone/>
            </a:pPr>
            <a:r>
              <a:rPr lang="en-US" sz="1000" b="1" spc="100" kern="0" dirty="0">
                <a:solidFill>
                  <a:schemeClr val="tx1"/>
                </a:solidFill>
              </a:rPr>
              <a:t>7 · FINANCIAL MODELLING</a:t>
            </a:r>
            <a:endParaRPr lang="en-US" sz="1000" dirty="0"/>
          </a:p>
        </p:txBody>
      </p:sp>
      <p:sp>
        <p:nvSpPr>
          <p:cNvPr id="34" name="Text 32"/>
          <p:cNvSpPr txBox="1"/>
          <p:nvPr/>
        </p:nvSpPr>
        <p:spPr>
          <a:xfrm>
            <a:off x="6355080" y="4114800"/>
            <a:ext cx="2148840" cy="320040"/>
          </a:xfrm>
          <a:prstGeom prst="rect">
            <a:avLst/>
          </a:prstGeom>
          <a:noFill/>
          <a:ln/>
        </p:spPr>
        <p:txBody>
          <a:bodyPr wrap="square" lIns="0" tIns="0" rIns="0" bIns="0" rtlCol="0" anchor="t"/>
          <a:lstStyle/>
          <a:p>
            <a:pPr indent="0" marL="0">
              <a:buNone/>
            </a:pPr>
            <a:r>
              <a:rPr lang="en-US" sz="1700" b="1" dirty="0">
                <a:solidFill>
                  <a:schemeClr val="tx1"/>
                </a:solidFill>
              </a:rPr>
              <a:t>Expected loss</a:t>
            </a:r>
            <a:endParaRPr lang="en-US" sz="1700" dirty="0"/>
          </a:p>
        </p:txBody>
      </p:sp>
      <p:sp>
        <p:nvSpPr>
          <p:cNvPr id="35" name="Text 33"/>
          <p:cNvSpPr txBox="1"/>
          <p:nvPr/>
        </p:nvSpPr>
        <p:spPr>
          <a:xfrm>
            <a:off x="6355080" y="4480560"/>
            <a:ext cx="2148840" cy="685800"/>
          </a:xfrm>
          <a:prstGeom prst="rect">
            <a:avLst/>
          </a:prstGeom>
          <a:noFill/>
          <a:ln/>
        </p:spPr>
        <p:txBody>
          <a:bodyPr wrap="square" lIns="0" tIns="0" rIns="0" bIns="0" rtlCol="0" anchor="t"/>
          <a:lstStyle/>
          <a:p>
            <a:pPr indent="0" marL="0">
              <a:buNone/>
            </a:pPr>
            <a:r>
              <a:rPr lang="en-US" sz="1200" dirty="0">
                <a:solidFill>
                  <a:schemeClr val="tx2"/>
                </a:solidFill>
              </a:rPr>
              <a:t>Baseline vs stressed EL = EAD × PD × LGD</a:t>
            </a:r>
            <a:endParaRPr lang="en-US" sz="1200" dirty="0"/>
          </a:p>
        </p:txBody>
      </p:sp>
      <p:sp>
        <p:nvSpPr>
          <p:cNvPr id="36" name="Shape 34"/>
          <p:cNvSpPr/>
          <p:nvPr/>
        </p:nvSpPr>
        <p:spPr>
          <a:xfrm>
            <a:off x="8677656" y="4480560"/>
            <a:ext cx="338328" cy="0"/>
          </a:xfrm>
          <a:prstGeom prst="line">
            <a:avLst/>
          </a:prstGeom>
          <a:noFill/>
          <a:ln w="22225">
            <a:solidFill>
              <a:schemeClr val="tx2"/>
            </a:solidFill>
            <a:prstDash val="solid"/>
            <a:tailEnd type="triangle"/>
          </a:ln>
        </p:spPr>
      </p:sp>
      <p:sp>
        <p:nvSpPr>
          <p:cNvPr id="37" name="Shape 35"/>
          <p:cNvSpPr/>
          <p:nvPr/>
        </p:nvSpPr>
        <p:spPr>
          <a:xfrm>
            <a:off x="9052560" y="3749040"/>
            <a:ext cx="2423160" cy="1463040"/>
          </a:xfrm>
          <a:prstGeom prst="rect">
            <a:avLst/>
          </a:prstGeom>
          <a:solidFill>
            <a:srgbClr val="F5EBD9"/>
          </a:solidFill>
          <a:ln w="12700">
            <a:solidFill>
              <a:schemeClr val="accent2"/>
            </a:solidFill>
            <a:prstDash val="solid"/>
          </a:ln>
        </p:spPr>
      </p:sp>
      <p:sp>
        <p:nvSpPr>
          <p:cNvPr id="38" name="Text 36"/>
          <p:cNvSpPr txBox="1"/>
          <p:nvPr/>
        </p:nvSpPr>
        <p:spPr>
          <a:xfrm>
            <a:off x="9189720" y="3858768"/>
            <a:ext cx="214884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8 · OUTPUT</a:t>
            </a:r>
            <a:endParaRPr lang="en-US" sz="1000" dirty="0"/>
          </a:p>
        </p:txBody>
      </p:sp>
      <p:sp>
        <p:nvSpPr>
          <p:cNvPr id="39" name="Text 37"/>
          <p:cNvSpPr txBox="1"/>
          <p:nvPr/>
        </p:nvSpPr>
        <p:spPr>
          <a:xfrm>
            <a:off x="9189720" y="4114800"/>
            <a:ext cx="2148840" cy="320040"/>
          </a:xfrm>
          <a:prstGeom prst="rect">
            <a:avLst/>
          </a:prstGeom>
          <a:noFill/>
          <a:ln/>
        </p:spPr>
        <p:txBody>
          <a:bodyPr wrap="square" lIns="0" tIns="0" rIns="0" bIns="0" rtlCol="0" anchor="t"/>
          <a:lstStyle/>
          <a:p>
            <a:pPr indent="0" marL="0">
              <a:buNone/>
            </a:pPr>
            <a:r>
              <a:rPr lang="en-US" sz="1700" b="1" dirty="0">
                <a:solidFill>
                  <a:schemeClr val="tx1"/>
                </a:solidFill>
              </a:rPr>
              <a:t>Streamlit dashboard</a:t>
            </a:r>
            <a:endParaRPr lang="en-US" sz="1700" dirty="0"/>
          </a:p>
        </p:txBody>
      </p:sp>
      <p:sp>
        <p:nvSpPr>
          <p:cNvPr id="40" name="Text 38"/>
          <p:cNvSpPr txBox="1"/>
          <p:nvPr/>
        </p:nvSpPr>
        <p:spPr>
          <a:xfrm>
            <a:off x="9189720" y="4480560"/>
            <a:ext cx="2148840" cy="685800"/>
          </a:xfrm>
          <a:prstGeom prst="rect">
            <a:avLst/>
          </a:prstGeom>
          <a:noFill/>
          <a:ln/>
        </p:spPr>
        <p:txBody>
          <a:bodyPr wrap="square" lIns="0" tIns="0" rIns="0" bIns="0" rtlCol="0" anchor="t"/>
          <a:lstStyle/>
          <a:p>
            <a:pPr indent="0" marL="0">
              <a:buNone/>
            </a:pPr>
            <a:r>
              <a:rPr lang="en-US" sz="1200" dirty="0">
                <a:solidFill>
                  <a:schemeClr val="tx2"/>
                </a:solidFill>
              </a:rPr>
              <a:t>Signals, evidence, risk paths and EL comparison</a:t>
            </a:r>
            <a:endParaRPr lang="en-US" sz="1200" dirty="0"/>
          </a:p>
        </p:txBody>
      </p:sp>
      <p:sp>
        <p:nvSpPr>
          <p:cNvPr id="41" name="Shape 39"/>
          <p:cNvSpPr/>
          <p:nvPr/>
        </p:nvSpPr>
        <p:spPr>
          <a:xfrm>
            <a:off x="10264140" y="3200400"/>
            <a:ext cx="0" cy="0"/>
          </a:xfrm>
          <a:prstGeom prst="line">
            <a:avLst/>
          </a:prstGeom>
          <a:noFill/>
          <a:ln w="9525">
            <a:solidFill>
              <a:schemeClr val="tx1"/>
            </a:solidFill>
            <a:prstDash val="solid"/>
          </a:ln>
        </p:spPr>
      </p:sp>
      <p:sp>
        <p:nvSpPr>
          <p:cNvPr id="42" name="Shape 40"/>
          <p:cNvSpPr/>
          <p:nvPr/>
        </p:nvSpPr>
        <p:spPr>
          <a:xfrm>
            <a:off x="10264140" y="3200400"/>
            <a:ext cx="0" cy="274320"/>
          </a:xfrm>
          <a:prstGeom prst="line">
            <a:avLst/>
          </a:prstGeom>
          <a:noFill/>
          <a:ln w="22225">
            <a:solidFill>
              <a:schemeClr val="tx2"/>
            </a:solidFill>
            <a:prstDash val="solid"/>
          </a:ln>
        </p:spPr>
      </p:sp>
      <p:sp>
        <p:nvSpPr>
          <p:cNvPr id="43" name="Shape 41"/>
          <p:cNvSpPr/>
          <p:nvPr/>
        </p:nvSpPr>
        <p:spPr>
          <a:xfrm>
            <a:off x="1760220" y="3474720"/>
            <a:ext cx="8503920" cy="0"/>
          </a:xfrm>
          <a:prstGeom prst="line">
            <a:avLst/>
          </a:prstGeom>
          <a:noFill/>
          <a:ln w="22225">
            <a:solidFill>
              <a:schemeClr val="tx2"/>
            </a:solidFill>
            <a:prstDash val="solid"/>
          </a:ln>
        </p:spPr>
      </p:sp>
      <p:sp>
        <p:nvSpPr>
          <p:cNvPr id="44" name="Shape 42"/>
          <p:cNvSpPr/>
          <p:nvPr/>
        </p:nvSpPr>
        <p:spPr>
          <a:xfrm>
            <a:off x="1760220" y="3474720"/>
            <a:ext cx="0" cy="274320"/>
          </a:xfrm>
          <a:prstGeom prst="line">
            <a:avLst/>
          </a:prstGeom>
          <a:noFill/>
          <a:ln w="22225">
            <a:solidFill>
              <a:schemeClr val="tx2"/>
            </a:solidFill>
            <a:prstDash val="solid"/>
            <a:tailEnd type="triangle"/>
          </a:ln>
        </p:spPr>
      </p:sp>
      <p:sp>
        <p:nvSpPr>
          <p:cNvPr id="45" name="Shape 43"/>
          <p:cNvSpPr/>
          <p:nvPr/>
        </p:nvSpPr>
        <p:spPr>
          <a:xfrm>
            <a:off x="548640" y="5504688"/>
            <a:ext cx="164592" cy="164592"/>
          </a:xfrm>
          <a:prstGeom prst="rect">
            <a:avLst/>
          </a:prstGeom>
          <a:solidFill>
            <a:srgbClr val="E8ECF1"/>
          </a:solidFill>
          <a:ln w="12700">
            <a:solidFill>
              <a:schemeClr val="tx2"/>
            </a:solidFill>
            <a:prstDash val="solid"/>
          </a:ln>
        </p:spPr>
      </p:sp>
      <p:sp>
        <p:nvSpPr>
          <p:cNvPr id="46" name="Text 44"/>
          <p:cNvSpPr txBox="1"/>
          <p:nvPr/>
        </p:nvSpPr>
        <p:spPr>
          <a:xfrm>
            <a:off x="804672" y="5468112"/>
            <a:ext cx="2103120" cy="256032"/>
          </a:xfrm>
          <a:prstGeom prst="rect">
            <a:avLst/>
          </a:prstGeom>
          <a:noFill/>
          <a:ln/>
        </p:spPr>
        <p:txBody>
          <a:bodyPr wrap="square" lIns="0" tIns="0" rIns="0" bIns="0" rtlCol="0" anchor="t"/>
          <a:lstStyle/>
          <a:p>
            <a:pPr indent="0" marL="0">
              <a:buNone/>
            </a:pPr>
            <a:r>
              <a:rPr lang="en-US" sz="1200" dirty="0">
                <a:solidFill>
                  <a:schemeClr val="tx2"/>
                </a:solidFill>
              </a:rPr>
              <a:t>Source data</a:t>
            </a:r>
            <a:endParaRPr lang="en-US" sz="1200" dirty="0"/>
          </a:p>
        </p:txBody>
      </p:sp>
      <p:sp>
        <p:nvSpPr>
          <p:cNvPr id="47" name="Shape 45"/>
          <p:cNvSpPr/>
          <p:nvPr/>
        </p:nvSpPr>
        <p:spPr>
          <a:xfrm>
            <a:off x="3017520" y="5504688"/>
            <a:ext cx="164592" cy="164592"/>
          </a:xfrm>
          <a:prstGeom prst="rect">
            <a:avLst/>
          </a:prstGeom>
          <a:solidFill>
            <a:srgbClr val="DCEFEC"/>
          </a:solidFill>
          <a:ln w="12700">
            <a:solidFill>
              <a:schemeClr val="accent1"/>
            </a:solidFill>
            <a:prstDash val="solid"/>
          </a:ln>
        </p:spPr>
      </p:sp>
      <p:sp>
        <p:nvSpPr>
          <p:cNvPr id="48" name="Text 46"/>
          <p:cNvSpPr txBox="1"/>
          <p:nvPr/>
        </p:nvSpPr>
        <p:spPr>
          <a:xfrm>
            <a:off x="3273552" y="5468112"/>
            <a:ext cx="2103120" cy="256032"/>
          </a:xfrm>
          <a:prstGeom prst="rect">
            <a:avLst/>
          </a:prstGeom>
          <a:noFill/>
          <a:ln/>
        </p:spPr>
        <p:txBody>
          <a:bodyPr wrap="square" lIns="0" tIns="0" rIns="0" bIns="0" rtlCol="0" anchor="t"/>
          <a:lstStyle/>
          <a:p>
            <a:pPr indent="0" marL="0">
              <a:buNone/>
            </a:pPr>
            <a:r>
              <a:rPr lang="en-US" sz="1200" dirty="0">
                <a:solidFill>
                  <a:schemeClr val="tx2"/>
                </a:solidFill>
              </a:rPr>
              <a:t>AI / NLP processing</a:t>
            </a:r>
            <a:endParaRPr lang="en-US" sz="1200" dirty="0"/>
          </a:p>
        </p:txBody>
      </p:sp>
      <p:sp>
        <p:nvSpPr>
          <p:cNvPr id="49" name="Shape 47"/>
          <p:cNvSpPr/>
          <p:nvPr/>
        </p:nvSpPr>
        <p:spPr>
          <a:xfrm>
            <a:off x="5486400" y="5504688"/>
            <a:ext cx="164592" cy="164592"/>
          </a:xfrm>
          <a:prstGeom prst="rect">
            <a:avLst/>
          </a:prstGeom>
          <a:solidFill>
            <a:srgbClr val="DDE6EF"/>
          </a:solidFill>
          <a:ln w="12700">
            <a:solidFill>
              <a:schemeClr val="tx1"/>
            </a:solidFill>
            <a:prstDash val="solid"/>
          </a:ln>
        </p:spPr>
      </p:sp>
      <p:sp>
        <p:nvSpPr>
          <p:cNvPr id="50" name="Text 48"/>
          <p:cNvSpPr txBox="1"/>
          <p:nvPr/>
        </p:nvSpPr>
        <p:spPr>
          <a:xfrm>
            <a:off x="5742432" y="5468112"/>
            <a:ext cx="2103120" cy="256032"/>
          </a:xfrm>
          <a:prstGeom prst="rect">
            <a:avLst/>
          </a:prstGeom>
          <a:noFill/>
          <a:ln/>
        </p:spPr>
        <p:txBody>
          <a:bodyPr wrap="square" lIns="0" tIns="0" rIns="0" bIns="0" rtlCol="0" anchor="t"/>
          <a:lstStyle/>
          <a:p>
            <a:pPr indent="0" marL="0">
              <a:buNone/>
            </a:pPr>
            <a:r>
              <a:rPr lang="en-US" sz="1200" dirty="0">
                <a:solidFill>
                  <a:schemeClr val="tx2"/>
                </a:solidFill>
              </a:rPr>
              <a:t>Financial modelling</a:t>
            </a:r>
            <a:endParaRPr lang="en-US" sz="1200" dirty="0"/>
          </a:p>
        </p:txBody>
      </p:sp>
      <p:sp>
        <p:nvSpPr>
          <p:cNvPr id="51" name="Shape 49"/>
          <p:cNvSpPr/>
          <p:nvPr/>
        </p:nvSpPr>
        <p:spPr>
          <a:xfrm>
            <a:off x="7955280" y="5504688"/>
            <a:ext cx="164592" cy="164592"/>
          </a:xfrm>
          <a:prstGeom prst="rect">
            <a:avLst/>
          </a:prstGeom>
          <a:solidFill>
            <a:srgbClr val="F5EBD9"/>
          </a:solidFill>
          <a:ln w="12700">
            <a:solidFill>
              <a:schemeClr val="accent2"/>
            </a:solidFill>
            <a:prstDash val="solid"/>
          </a:ln>
        </p:spPr>
      </p:sp>
      <p:sp>
        <p:nvSpPr>
          <p:cNvPr id="52" name="Text 50"/>
          <p:cNvSpPr txBox="1"/>
          <p:nvPr/>
        </p:nvSpPr>
        <p:spPr>
          <a:xfrm>
            <a:off x="8211312" y="5468112"/>
            <a:ext cx="2103120" cy="256032"/>
          </a:xfrm>
          <a:prstGeom prst="rect">
            <a:avLst/>
          </a:prstGeom>
          <a:noFill/>
          <a:ln/>
        </p:spPr>
        <p:txBody>
          <a:bodyPr wrap="square" lIns="0" tIns="0" rIns="0" bIns="0" rtlCol="0" anchor="t"/>
          <a:lstStyle/>
          <a:p>
            <a:pPr indent="0" marL="0">
              <a:buNone/>
            </a:pPr>
            <a:r>
              <a:rPr lang="en-US" sz="1200" dirty="0">
                <a:solidFill>
                  <a:schemeClr val="tx2"/>
                </a:solidFill>
              </a:rPr>
              <a:t>Output</a:t>
            </a:r>
            <a:endParaRPr lang="en-US" sz="1200" dirty="0"/>
          </a:p>
        </p:txBody>
      </p:sp>
      <p:sp>
        <p:nvSpPr>
          <p:cNvPr id="53" name="Text 51"/>
          <p:cNvSpPr txBox="1"/>
          <p:nvPr/>
        </p:nvSpPr>
        <p:spPr>
          <a:xfrm>
            <a:off x="548640" y="5852160"/>
            <a:ext cx="11091672" cy="457200"/>
          </a:xfrm>
          <a:prstGeom prst="rect">
            <a:avLst/>
          </a:prstGeom>
          <a:noFill/>
          <a:ln/>
        </p:spPr>
        <p:txBody>
          <a:bodyPr wrap="square" lIns="0" tIns="0" rIns="0" bIns="0" rtlCol="0" anchor="t"/>
          <a:lstStyle/>
          <a:p>
            <a:pPr indent="0" marL="0">
              <a:buNone/>
            </a:pPr>
            <a:r>
              <a:rPr lang="en-US" sz="1100" dirty="0">
                <a:solidFill>
                  <a:schemeClr val="tx2"/>
                </a:solidFill>
              </a:rPr>
              <a:t>Event types recognised: Supply Disruption, Cyberattack, Regulatory Penalty, Credit Deterioration. Financial mapping is currently implemented for Supply Disruption and Cyberattack.</a:t>
            </a:r>
            <a:endParaRPr lang="en-US" sz="11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lIns="0" tIns="0" rIns="0" bIns="0" rtlCol="0" anchor="t"/>
          <a:lstStyle/>
          <a:p>
            <a:pPr algn="l" indent="0" marL="0">
              <a:buNone/>
            </a:pPr>
            <a:r>
              <a:rPr lang="en-US" sz="3200" b="1" dirty="0">
                <a:solidFill>
                  <a:schemeClr val="tx1"/>
                </a:solidFill>
              </a:rPr>
              <a:t>A signal should be explainable before it becomes a stress scenario</a:t>
            </a:r>
            <a:endParaRPr lang="en-US" sz="3200" dirty="0"/>
          </a:p>
        </p:txBody>
      </p:sp>
      <p:sp>
        <p:nvSpPr>
          <p:cNvPr id="3" name="Text 1"/>
          <p:cNvSpPr txBox="1"/>
          <p:nvPr/>
        </p:nvSpPr>
        <p:spPr>
          <a:xfrm>
            <a:off x="548640" y="1645920"/>
            <a:ext cx="27432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EXAMPLE EVENT RECORD</a:t>
            </a:r>
            <a:endParaRPr lang="en-US" sz="1100" dirty="0"/>
          </a:p>
        </p:txBody>
      </p:sp>
      <p:sp>
        <p:nvSpPr>
          <p:cNvPr id="4" name="Text 2"/>
          <p:cNvSpPr txBox="1"/>
          <p:nvPr/>
        </p:nvSpPr>
        <p:spPr>
          <a:xfrm>
            <a:off x="2926080" y="1645920"/>
            <a:ext cx="4206240" cy="228600"/>
          </a:xfrm>
          <a:prstGeom prst="rect">
            <a:avLst/>
          </a:prstGeom>
          <a:noFill/>
          <a:ln/>
        </p:spPr>
        <p:txBody>
          <a:bodyPr wrap="square" lIns="0" tIns="0" rIns="0" bIns="0" rtlCol="0" anchor="t"/>
          <a:lstStyle/>
          <a:p>
            <a:pPr algn="r" indent="0" marL="0">
              <a:buNone/>
            </a:pPr>
            <a:r>
              <a:rPr lang="en-US" sz="1100" dirty="0">
                <a:solidFill>
                  <a:schemeClr val="tx2"/>
                </a:solidFill>
              </a:rPr>
              <a:t>Illustrative values showing the fields — not a verified event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583680" cy="914400"/>
        </p:xfrm>
        <a:graphic>
          <a:graphicData uri="http://schemas.openxmlformats.org/drawingml/2006/table">
            <a:tbl>
              <a:tblPr/>
              <a:tblGrid>
                <a:gridCol w="1828800"/>
                <a:gridCol w="4754880"/>
              </a:tblGrid>
              <a:tr h="429768">
                <a:tc>
                  <a:txBody>
                    <a:bodyPr/>
                    <a:lstStyle/>
                    <a:p>
                      <a:pPr indent="0" marL="0">
                        <a:buNone/>
                      </a:pPr>
                      <a:r>
                        <a:rPr lang="en-US" sz="1200" dirty="0">
                          <a:solidFill>
                            <a:srgbClr val="64748B"/>
                          </a:solidFill>
                        </a:rPr>
                        <a:t>Source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173653"/>
                          </a:solidFill>
                        </a:rPr>
                        <a:t>Financial-news RSS item (synthetic)</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dirty="0">
                          <a:solidFill>
                            <a:srgbClr val="64748B"/>
                          </a:solidFill>
                        </a:rPr>
                        <a:t>Text quality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B7791F"/>
                          </a:solidFill>
                        </a:rPr>
                        <a:t>Summary only</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dirty="0">
                          <a:solidFill>
                            <a:srgbClr val="64748B"/>
                          </a:solidFill>
                        </a:rPr>
                        <a:t>Entity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173653"/>
                          </a:solidFill>
                        </a:rPr>
                        <a:t>Global SemiCorp</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dirty="0">
                          <a:solidFill>
                            <a:srgbClr val="64748B"/>
                          </a:solidFill>
                        </a:rPr>
                        <a:t>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173653"/>
                          </a:solidFill>
                        </a:rPr>
                        <a:t>Supply Disruption</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dirty="0">
                          <a:solidFill>
                            <a:srgbClr val="64748B"/>
                          </a:solidFill>
                        </a:rPr>
                        <a:t>Supporting quote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173653"/>
                          </a:solidFill>
                        </a:rPr>
                        <a:t>“Fire at Global SemiCorp factory halts production” (synthetic)</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dirty="0">
                          <a:solidFill>
                            <a:srgbClr val="64748B"/>
                          </a:solidFill>
                        </a:rPr>
                        <a:t>Sentiment · Impact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173653"/>
                          </a:solidFill>
                        </a:rPr>
                        <a:t>−0.7 · 7 / 10 (illustrative)</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dirty="0">
                          <a:solidFill>
                            <a:srgbClr val="64748B"/>
                          </a:solidFill>
                        </a:rPr>
                        <a:t>Confidence · Mapping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173653"/>
                          </a:solidFill>
                        </a:rPr>
                        <a:t>0.8 · FactorLens: Supplier Risk</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dirty="0">
                          <a:solidFill>
                            <a:srgbClr val="64748B"/>
                          </a:solidFill>
                        </a:rPr>
                        <a:t>Review decision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300" b="1" dirty="0">
                          <a:solidFill>
                            <a:srgbClr val="0F766E"/>
                          </a:solidFill>
                        </a:rPr>
                        <a:t>Eligible for stress review; analyst confirms</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7543800" y="1645920"/>
            <a:ext cx="402336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EVIDENCE-FUSION CHECKS</a:t>
            </a:r>
            <a:endParaRPr lang="en-US" sz="1100" dirty="0"/>
          </a:p>
        </p:txBody>
      </p:sp>
      <p:sp>
        <p:nvSpPr>
          <p:cNvPr id="7" name="Shape 4"/>
          <p:cNvSpPr/>
          <p:nvPr/>
        </p:nvSpPr>
        <p:spPr>
          <a:xfrm>
            <a:off x="7543800" y="2066544"/>
            <a:ext cx="146304" cy="146304"/>
          </a:xfrm>
          <a:prstGeom prst="ellipse">
            <a:avLst/>
          </a:prstGeom>
          <a:solidFill>
            <a:schemeClr val="accent1"/>
          </a:solidFill>
          <a:ln w="12700">
            <a:solidFill>
              <a:schemeClr val="accent1"/>
            </a:solidFill>
            <a:prstDash val="solid"/>
          </a:ln>
        </p:spPr>
      </p:sp>
      <p:sp>
        <p:nvSpPr>
          <p:cNvPr id="8" name="Text 5"/>
          <p:cNvSpPr txBox="1"/>
          <p:nvPr/>
        </p:nvSpPr>
        <p:spPr>
          <a:xfrm>
            <a:off x="7863840" y="2011680"/>
            <a:ext cx="3776472" cy="274320"/>
          </a:xfrm>
          <a:prstGeom prst="rect">
            <a:avLst/>
          </a:prstGeom>
          <a:noFill/>
          <a:ln/>
        </p:spPr>
        <p:txBody>
          <a:bodyPr wrap="square" lIns="0" tIns="0" rIns="0" bIns="0" rtlCol="0" anchor="t"/>
          <a:lstStyle/>
          <a:p>
            <a:pPr indent="0" marL="0">
              <a:buNone/>
            </a:pPr>
            <a:r>
              <a:rPr lang="en-US" sz="1400" dirty="0">
                <a:solidFill>
                  <a:schemeClr val="tx1"/>
                </a:solidFill>
              </a:rPr>
              <a:t>Quotation appears in source text</a:t>
            </a:r>
            <a:endParaRPr lang="en-US" sz="1400" dirty="0"/>
          </a:p>
        </p:txBody>
      </p:sp>
      <p:sp>
        <p:nvSpPr>
          <p:cNvPr id="9" name="Shape 6"/>
          <p:cNvSpPr/>
          <p:nvPr/>
        </p:nvSpPr>
        <p:spPr>
          <a:xfrm>
            <a:off x="7543800" y="2468880"/>
            <a:ext cx="146304" cy="146304"/>
          </a:xfrm>
          <a:prstGeom prst="ellipse">
            <a:avLst/>
          </a:prstGeom>
          <a:solidFill>
            <a:schemeClr val="accent2"/>
          </a:solidFill>
          <a:ln w="12700">
            <a:solidFill>
              <a:schemeClr val="accent2"/>
            </a:solidFill>
            <a:prstDash val="solid"/>
          </a:ln>
        </p:spPr>
      </p:sp>
      <p:sp>
        <p:nvSpPr>
          <p:cNvPr id="10" name="Text 7"/>
          <p:cNvSpPr txBox="1"/>
          <p:nvPr/>
        </p:nvSpPr>
        <p:spPr>
          <a:xfrm>
            <a:off x="7863840" y="2414016"/>
            <a:ext cx="3776472" cy="274320"/>
          </a:xfrm>
          <a:prstGeom prst="rect">
            <a:avLst/>
          </a:prstGeom>
          <a:noFill/>
          <a:ln/>
        </p:spPr>
        <p:txBody>
          <a:bodyPr wrap="square" lIns="0" tIns="0" rIns="0" bIns="0" rtlCol="0" anchor="t"/>
          <a:lstStyle/>
          <a:p>
            <a:pPr indent="0" marL="0">
              <a:buNone/>
            </a:pPr>
            <a:r>
              <a:rPr lang="en-US" sz="1400" dirty="0">
                <a:solidFill>
                  <a:schemeClr val="tx1"/>
                </a:solidFill>
              </a:rPr>
              <a:t>Source is summary-only, not full text</a:t>
            </a:r>
            <a:endParaRPr lang="en-US" sz="1400" dirty="0"/>
          </a:p>
        </p:txBody>
      </p:sp>
      <p:sp>
        <p:nvSpPr>
          <p:cNvPr id="11" name="Shape 8"/>
          <p:cNvSpPr/>
          <p:nvPr/>
        </p:nvSpPr>
        <p:spPr>
          <a:xfrm>
            <a:off x="7543800" y="2871216"/>
            <a:ext cx="146304" cy="146304"/>
          </a:xfrm>
          <a:prstGeom prst="ellipse">
            <a:avLst/>
          </a:prstGeom>
          <a:solidFill>
            <a:schemeClr val="accent1"/>
          </a:solidFill>
          <a:ln w="12700">
            <a:solidFill>
              <a:schemeClr val="accent1"/>
            </a:solidFill>
            <a:prstDash val="solid"/>
          </a:ln>
        </p:spPr>
      </p:sp>
      <p:sp>
        <p:nvSpPr>
          <p:cNvPr id="12" name="Text 9"/>
          <p:cNvSpPr txBox="1"/>
          <p:nvPr/>
        </p:nvSpPr>
        <p:spPr>
          <a:xfrm>
            <a:off x="7863840" y="2816352"/>
            <a:ext cx="3776472" cy="274320"/>
          </a:xfrm>
          <a:prstGeom prst="rect">
            <a:avLst/>
          </a:prstGeom>
          <a:noFill/>
          <a:ln/>
        </p:spPr>
        <p:txBody>
          <a:bodyPr wrap="square" lIns="0" tIns="0" rIns="0" bIns="0" rtlCol="0" anchor="t"/>
          <a:lstStyle/>
          <a:p>
            <a:pPr indent="0" marL="0">
              <a:buNone/>
            </a:pPr>
            <a:r>
              <a:rPr lang="en-US" sz="1400" dirty="0">
                <a:solidFill>
                  <a:schemeClr val="tx1"/>
                </a:solidFill>
              </a:rPr>
              <a:t>Company name appears in source</a:t>
            </a:r>
            <a:endParaRPr lang="en-US" sz="1400" dirty="0"/>
          </a:p>
        </p:txBody>
      </p:sp>
      <p:sp>
        <p:nvSpPr>
          <p:cNvPr id="13" name="Shape 10"/>
          <p:cNvSpPr/>
          <p:nvPr/>
        </p:nvSpPr>
        <p:spPr>
          <a:xfrm>
            <a:off x="7543800" y="3273552"/>
            <a:ext cx="146304" cy="146304"/>
          </a:xfrm>
          <a:prstGeom prst="ellipse">
            <a:avLst/>
          </a:prstGeom>
          <a:solidFill>
            <a:schemeClr val="accent1"/>
          </a:solidFill>
          <a:ln w="12700">
            <a:solidFill>
              <a:schemeClr val="accent1"/>
            </a:solidFill>
            <a:prstDash val="solid"/>
          </a:ln>
        </p:spPr>
      </p:sp>
      <p:sp>
        <p:nvSpPr>
          <p:cNvPr id="14" name="Text 11"/>
          <p:cNvSpPr txBox="1"/>
          <p:nvPr/>
        </p:nvSpPr>
        <p:spPr>
          <a:xfrm>
            <a:off x="7863840" y="3218688"/>
            <a:ext cx="3776472" cy="274320"/>
          </a:xfrm>
          <a:prstGeom prst="rect">
            <a:avLst/>
          </a:prstGeom>
          <a:noFill/>
          <a:ln/>
        </p:spPr>
        <p:txBody>
          <a:bodyPr wrap="square" lIns="0" tIns="0" rIns="0" bIns="0" rtlCol="0" anchor="t"/>
          <a:lstStyle/>
          <a:p>
            <a:pPr indent="0" marL="0">
              <a:buNone/>
            </a:pPr>
            <a:r>
              <a:rPr lang="en-US" sz="1400" dirty="0">
                <a:solidFill>
                  <a:schemeClr val="tx1"/>
                </a:solidFill>
              </a:rPr>
              <a:t>Company matches a graph entity</a:t>
            </a:r>
            <a:endParaRPr lang="en-US" sz="1400" dirty="0"/>
          </a:p>
        </p:txBody>
      </p:sp>
      <p:sp>
        <p:nvSpPr>
          <p:cNvPr id="15" name="Shape 12"/>
          <p:cNvSpPr/>
          <p:nvPr/>
        </p:nvSpPr>
        <p:spPr>
          <a:xfrm>
            <a:off x="7543800" y="3675888"/>
            <a:ext cx="146304" cy="146304"/>
          </a:xfrm>
          <a:prstGeom prst="ellipse">
            <a:avLst/>
          </a:prstGeom>
          <a:solidFill>
            <a:schemeClr val="accent1"/>
          </a:solidFill>
          <a:ln w="12700">
            <a:solidFill>
              <a:schemeClr val="accent1"/>
            </a:solidFill>
            <a:prstDash val="solid"/>
          </a:ln>
        </p:spPr>
      </p:sp>
      <p:sp>
        <p:nvSpPr>
          <p:cNvPr id="16" name="Text 13"/>
          <p:cNvSpPr txBox="1"/>
          <p:nvPr/>
        </p:nvSpPr>
        <p:spPr>
          <a:xfrm>
            <a:off x="7863840" y="3621024"/>
            <a:ext cx="3776472" cy="274320"/>
          </a:xfrm>
          <a:prstGeom prst="rect">
            <a:avLst/>
          </a:prstGeom>
          <a:noFill/>
          <a:ln/>
        </p:spPr>
        <p:txBody>
          <a:bodyPr wrap="square" lIns="0" tIns="0" rIns="0" bIns="0" rtlCol="0" anchor="t"/>
          <a:lstStyle/>
          <a:p>
            <a:pPr indent="0" marL="0">
              <a:buNone/>
            </a:pPr>
            <a:r>
              <a:rPr lang="en-US" sz="1400" dirty="0">
                <a:solidFill>
                  <a:schemeClr val="tx1"/>
                </a:solidFill>
              </a:rPr>
              <a:t>LLM and keyword baseline agree</a:t>
            </a:r>
            <a:endParaRPr lang="en-US" sz="1400" dirty="0"/>
          </a:p>
        </p:txBody>
      </p:sp>
      <p:sp>
        <p:nvSpPr>
          <p:cNvPr id="17" name="Shape 14"/>
          <p:cNvSpPr/>
          <p:nvPr/>
        </p:nvSpPr>
        <p:spPr>
          <a:xfrm>
            <a:off x="7543800" y="4078224"/>
            <a:ext cx="146304" cy="146304"/>
          </a:xfrm>
          <a:prstGeom prst="ellipse">
            <a:avLst/>
          </a:prstGeom>
          <a:solidFill>
            <a:schemeClr val="accent1"/>
          </a:solidFill>
          <a:ln w="12700">
            <a:solidFill>
              <a:schemeClr val="accent1"/>
            </a:solidFill>
            <a:prstDash val="solid"/>
          </a:ln>
        </p:spPr>
      </p:sp>
      <p:sp>
        <p:nvSpPr>
          <p:cNvPr id="18" name="Text 15"/>
          <p:cNvSpPr txBox="1"/>
          <p:nvPr/>
        </p:nvSpPr>
        <p:spPr>
          <a:xfrm>
            <a:off x="7863840" y="4023360"/>
            <a:ext cx="3776472" cy="274320"/>
          </a:xfrm>
          <a:prstGeom prst="rect">
            <a:avLst/>
          </a:prstGeom>
          <a:noFill/>
          <a:ln/>
        </p:spPr>
        <p:txBody>
          <a:bodyPr wrap="square" lIns="0" tIns="0" rIns="0" bIns="0" rtlCol="0" anchor="t"/>
          <a:lstStyle/>
          <a:p>
            <a:pPr indent="0" marL="0">
              <a:buNone/>
            </a:pPr>
            <a:r>
              <a:rPr lang="en-US" sz="1400" dirty="0">
                <a:solidFill>
                  <a:schemeClr val="tx1"/>
                </a:solidFill>
              </a:rPr>
              <a:t>Supported FactorLens mapping exists</a:t>
            </a:r>
            <a:endParaRPr lang="en-US" sz="1400" dirty="0"/>
          </a:p>
        </p:txBody>
      </p:sp>
      <p:sp>
        <p:nvSpPr>
          <p:cNvPr id="19" name="Shape 16"/>
          <p:cNvSpPr/>
          <p:nvPr/>
        </p:nvSpPr>
        <p:spPr>
          <a:xfrm>
            <a:off x="7543800" y="4526280"/>
            <a:ext cx="4096512" cy="868680"/>
          </a:xfrm>
          <a:prstGeom prst="rect">
            <a:avLst/>
          </a:prstGeom>
          <a:solidFill>
            <a:srgbClr val="F5EBD9"/>
          </a:solidFill>
          <a:ln w="12700">
            <a:solidFill>
              <a:srgbClr val="F5EBD9"/>
            </a:solidFill>
            <a:prstDash val="solid"/>
          </a:ln>
        </p:spPr>
      </p:sp>
      <p:sp>
        <p:nvSpPr>
          <p:cNvPr id="20" name="Text 17"/>
          <p:cNvSpPr txBox="1"/>
          <p:nvPr/>
        </p:nvSpPr>
        <p:spPr>
          <a:xfrm>
            <a:off x="7680960" y="4617720"/>
            <a:ext cx="384048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REVIEW DECISION</a:t>
            </a:r>
            <a:endParaRPr lang="en-US" sz="1000" dirty="0"/>
          </a:p>
        </p:txBody>
      </p:sp>
      <p:sp>
        <p:nvSpPr>
          <p:cNvPr id="21" name="Text 18"/>
          <p:cNvSpPr txBox="1"/>
          <p:nvPr/>
        </p:nvSpPr>
        <p:spPr>
          <a:xfrm>
            <a:off x="7680960" y="4846320"/>
            <a:ext cx="3840480" cy="502920"/>
          </a:xfrm>
          <a:prstGeom prst="rect">
            <a:avLst/>
          </a:prstGeom>
          <a:noFill/>
          <a:ln/>
        </p:spPr>
        <p:txBody>
          <a:bodyPr wrap="square" lIns="0" tIns="0" rIns="0" bIns="0" rtlCol="0" anchor="t"/>
          <a:lstStyle/>
          <a:p>
            <a:pPr indent="0" marL="0">
              <a:buNone/>
            </a:pPr>
            <a:r>
              <a:rPr lang="en-US" sz="1300" b="1" dirty="0">
                <a:solidFill>
                  <a:schemeClr val="tx1"/>
                </a:solidFill>
              </a:rPr>
              <a:t>Eligible for stress review, with human confirmation because the source is summary-only</a:t>
            </a:r>
            <a:endParaRPr lang="en-US" sz="1300" dirty="0"/>
          </a:p>
        </p:txBody>
      </p:sp>
      <p:sp>
        <p:nvSpPr>
          <p:cNvPr id="22" name="Text 19"/>
          <p:cNvSpPr txBox="1"/>
          <p:nvPr/>
        </p:nvSpPr>
        <p:spPr>
          <a:xfrm>
            <a:off x="548640" y="5669280"/>
            <a:ext cx="11091672" cy="548640"/>
          </a:xfrm>
          <a:prstGeom prst="rect">
            <a:avLst/>
          </a:prstGeom>
          <a:noFill/>
          <a:ln/>
        </p:spPr>
        <p:txBody>
          <a:bodyPr wrap="square" lIns="0" tIns="0" rIns="0" bIns="0" rtlCol="0" anchor="t"/>
          <a:lstStyle/>
          <a:p>
            <a:pPr indent="0" marL="0">
              <a:buNone/>
            </a:pPr>
            <a:r>
              <a:rPr lang="en-US" sz="1600" i="1" dirty="0">
                <a:solidFill>
                  <a:schemeClr val="tx2"/>
                </a:solidFill>
              </a:rPr>
              <a:t>A matching quotation shows the extractor did not invent the words. It does not independently prove the event happened.</a:t>
            </a:r>
            <a:endParaRPr lang="en-US" sz="16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lIns="0" tIns="0" rIns="0" bIns="0" rtlCol="0" anchor="t"/>
          <a:lstStyle/>
          <a:p>
            <a:pPr algn="l" indent="0" marL="0">
              <a:buNone/>
            </a:pPr>
            <a:r>
              <a:rPr lang="en-US" sz="3200" b="1" dirty="0">
                <a:solidFill>
                  <a:schemeClr val="tx1"/>
                </a:solidFill>
              </a:rPr>
              <a:t>A local disruption can become a portfolio-level scenario</a:t>
            </a:r>
            <a:endParaRPr lang="en-US" sz="3200" dirty="0"/>
          </a:p>
        </p:txBody>
      </p:sp>
      <p:sp>
        <p:nvSpPr>
          <p:cNvPr id="3" name="Shape 1"/>
          <p:cNvSpPr/>
          <p:nvPr/>
        </p:nvSpPr>
        <p:spPr>
          <a:xfrm>
            <a:off x="548640" y="1783080"/>
            <a:ext cx="2240280" cy="960120"/>
          </a:xfrm>
          <a:prstGeom prst="rect">
            <a:avLst/>
          </a:prstGeom>
          <a:solidFill>
            <a:srgbClr val="E7B9B4"/>
          </a:solidFill>
          <a:ln w="15875">
            <a:solidFill>
              <a:schemeClr val="accent3"/>
            </a:solidFill>
            <a:prstDash val="solid"/>
          </a:ln>
        </p:spPr>
      </p:sp>
      <p:sp>
        <p:nvSpPr>
          <p:cNvPr id="4" name="Text 2"/>
          <p:cNvSpPr txBox="1"/>
          <p:nvPr/>
        </p:nvSpPr>
        <p:spPr>
          <a:xfrm>
            <a:off x="658368" y="1965960"/>
            <a:ext cx="2020824" cy="320040"/>
          </a:xfrm>
          <a:prstGeom prst="rect">
            <a:avLst/>
          </a:prstGeom>
          <a:noFill/>
          <a:ln/>
        </p:spPr>
        <p:txBody>
          <a:bodyPr wrap="square" lIns="0" tIns="0" rIns="0" bIns="0" rtlCol="0" anchor="t"/>
          <a:lstStyle/>
          <a:p>
            <a:pPr indent="0" marL="0">
              <a:buNone/>
            </a:pPr>
            <a:r>
              <a:rPr lang="en-US" sz="1500" b="1" dirty="0">
                <a:solidFill>
                  <a:schemeClr val="tx1"/>
                </a:solidFill>
              </a:rPr>
              <a:t>Global SemiCorp</a:t>
            </a:r>
            <a:endParaRPr lang="en-US" sz="1500" dirty="0"/>
          </a:p>
        </p:txBody>
      </p:sp>
      <p:sp>
        <p:nvSpPr>
          <p:cNvPr id="5" name="Text 3"/>
          <p:cNvSpPr txBox="1"/>
          <p:nvPr/>
        </p:nvSpPr>
        <p:spPr>
          <a:xfrm>
            <a:off x="658368" y="2331720"/>
            <a:ext cx="2020824" cy="274320"/>
          </a:xfrm>
          <a:prstGeom prst="rect">
            <a:avLst/>
          </a:prstGeom>
          <a:noFill/>
          <a:ln/>
        </p:spPr>
        <p:txBody>
          <a:bodyPr wrap="square" lIns="0" tIns="0" rIns="0" bIns="0" rtlCol="0" anchor="t"/>
          <a:lstStyle/>
          <a:p>
            <a:pPr indent="0" marL="0">
              <a:buNone/>
            </a:pPr>
            <a:r>
              <a:rPr lang="en-US" sz="1200" dirty="0">
                <a:solidFill>
                  <a:schemeClr val="tx1"/>
                </a:solidFill>
              </a:rPr>
              <a:t>Event origin</a:t>
            </a:r>
            <a:endParaRPr lang="en-US" sz="1200" dirty="0"/>
          </a:p>
        </p:txBody>
      </p:sp>
      <p:sp>
        <p:nvSpPr>
          <p:cNvPr id="6" name="Shape 4"/>
          <p:cNvSpPr/>
          <p:nvPr/>
        </p:nvSpPr>
        <p:spPr>
          <a:xfrm>
            <a:off x="2825496" y="2263140"/>
            <a:ext cx="612648" cy="0"/>
          </a:xfrm>
          <a:prstGeom prst="line">
            <a:avLst/>
          </a:prstGeom>
          <a:noFill/>
          <a:ln w="22225">
            <a:solidFill>
              <a:schemeClr val="accent3"/>
            </a:solidFill>
            <a:prstDash val="solid"/>
            <a:tailEnd type="triangle"/>
          </a:ln>
        </p:spPr>
      </p:sp>
      <p:sp>
        <p:nvSpPr>
          <p:cNvPr id="7" name="Shape 5"/>
          <p:cNvSpPr/>
          <p:nvPr/>
        </p:nvSpPr>
        <p:spPr>
          <a:xfrm>
            <a:off x="3474720" y="1783080"/>
            <a:ext cx="2240280" cy="960120"/>
          </a:xfrm>
          <a:prstGeom prst="rect">
            <a:avLst/>
          </a:prstGeom>
          <a:solidFill>
            <a:srgbClr val="F0D3CF"/>
          </a:solidFill>
          <a:ln w="15875">
            <a:solidFill>
              <a:srgbClr val="F0D3CF"/>
            </a:solidFill>
            <a:prstDash val="solid"/>
          </a:ln>
        </p:spPr>
      </p:sp>
      <p:sp>
        <p:nvSpPr>
          <p:cNvPr id="8" name="Text 6"/>
          <p:cNvSpPr txBox="1"/>
          <p:nvPr/>
        </p:nvSpPr>
        <p:spPr>
          <a:xfrm>
            <a:off x="3584448" y="1965960"/>
            <a:ext cx="2020824" cy="320040"/>
          </a:xfrm>
          <a:prstGeom prst="rect">
            <a:avLst/>
          </a:prstGeom>
          <a:noFill/>
          <a:ln/>
        </p:spPr>
        <p:txBody>
          <a:bodyPr wrap="square" lIns="0" tIns="0" rIns="0" bIns="0" rtlCol="0" anchor="t"/>
          <a:lstStyle/>
          <a:p>
            <a:pPr indent="0" marL="0">
              <a:buNone/>
            </a:pPr>
            <a:r>
              <a:rPr lang="en-US" sz="1500" b="1" dirty="0">
                <a:solidFill>
                  <a:schemeClr val="tx1"/>
                </a:solidFill>
              </a:rPr>
              <a:t>Tier-1 Auto Controls</a:t>
            </a:r>
            <a:endParaRPr lang="en-US" sz="1500" dirty="0"/>
          </a:p>
        </p:txBody>
      </p:sp>
      <p:sp>
        <p:nvSpPr>
          <p:cNvPr id="9" name="Text 7"/>
          <p:cNvSpPr txBox="1"/>
          <p:nvPr/>
        </p:nvSpPr>
        <p:spPr>
          <a:xfrm>
            <a:off x="3584448" y="2331720"/>
            <a:ext cx="2020824" cy="274320"/>
          </a:xfrm>
          <a:prstGeom prst="rect">
            <a:avLst/>
          </a:prstGeom>
          <a:noFill/>
          <a:ln/>
        </p:spPr>
        <p:txBody>
          <a:bodyPr wrap="square" lIns="0" tIns="0" rIns="0" bIns="0" rtlCol="0" anchor="t"/>
          <a:lstStyle/>
          <a:p>
            <a:pPr indent="0" marL="0">
              <a:buNone/>
            </a:pPr>
            <a:r>
              <a:rPr lang="en-US" sz="1200" dirty="0">
                <a:solidFill>
                  <a:schemeClr val="tx1"/>
                </a:solidFill>
              </a:rPr>
              <a:t>Connected supplier</a:t>
            </a:r>
            <a:endParaRPr lang="en-US" sz="1200" dirty="0"/>
          </a:p>
        </p:txBody>
      </p:sp>
      <p:sp>
        <p:nvSpPr>
          <p:cNvPr id="10" name="Shape 8"/>
          <p:cNvSpPr/>
          <p:nvPr/>
        </p:nvSpPr>
        <p:spPr>
          <a:xfrm>
            <a:off x="5751576" y="2263140"/>
            <a:ext cx="612648" cy="0"/>
          </a:xfrm>
          <a:prstGeom prst="line">
            <a:avLst/>
          </a:prstGeom>
          <a:noFill/>
          <a:ln w="22225">
            <a:solidFill>
              <a:schemeClr val="accent3"/>
            </a:solidFill>
            <a:prstDash val="solid"/>
            <a:tailEnd type="triangle"/>
          </a:ln>
        </p:spPr>
      </p:sp>
      <p:sp>
        <p:nvSpPr>
          <p:cNvPr id="11" name="Shape 9"/>
          <p:cNvSpPr/>
          <p:nvPr/>
        </p:nvSpPr>
        <p:spPr>
          <a:xfrm>
            <a:off x="6400800" y="1783080"/>
            <a:ext cx="2240280" cy="960120"/>
          </a:xfrm>
          <a:prstGeom prst="rect">
            <a:avLst/>
          </a:prstGeom>
          <a:solidFill>
            <a:srgbClr val="F7E8E6"/>
          </a:solidFill>
          <a:ln w="15875">
            <a:solidFill>
              <a:srgbClr val="F7E8E6"/>
            </a:solidFill>
            <a:prstDash val="solid"/>
          </a:ln>
        </p:spPr>
      </p:sp>
      <p:sp>
        <p:nvSpPr>
          <p:cNvPr id="12" name="Text 10"/>
          <p:cNvSpPr txBox="1"/>
          <p:nvPr/>
        </p:nvSpPr>
        <p:spPr>
          <a:xfrm>
            <a:off x="6510528" y="1965960"/>
            <a:ext cx="2020824" cy="320040"/>
          </a:xfrm>
          <a:prstGeom prst="rect">
            <a:avLst/>
          </a:prstGeom>
          <a:noFill/>
          <a:ln/>
        </p:spPr>
        <p:txBody>
          <a:bodyPr wrap="square" lIns="0" tIns="0" rIns="0" bIns="0" rtlCol="0" anchor="t"/>
          <a:lstStyle/>
          <a:p>
            <a:pPr indent="0" marL="0">
              <a:buNone/>
            </a:pPr>
            <a:r>
              <a:rPr lang="en-US" sz="1500" b="1" dirty="0">
                <a:solidFill>
                  <a:schemeClr val="tx1"/>
                </a:solidFill>
              </a:rPr>
              <a:t>MegaMotors</a:t>
            </a:r>
            <a:endParaRPr lang="en-US" sz="1500" dirty="0"/>
          </a:p>
        </p:txBody>
      </p:sp>
      <p:sp>
        <p:nvSpPr>
          <p:cNvPr id="13" name="Text 11"/>
          <p:cNvSpPr txBox="1"/>
          <p:nvPr/>
        </p:nvSpPr>
        <p:spPr>
          <a:xfrm>
            <a:off x="6510528" y="2331720"/>
            <a:ext cx="2020824" cy="274320"/>
          </a:xfrm>
          <a:prstGeom prst="rect">
            <a:avLst/>
          </a:prstGeom>
          <a:noFill/>
          <a:ln/>
        </p:spPr>
        <p:txBody>
          <a:bodyPr wrap="square" lIns="0" tIns="0" rIns="0" bIns="0" rtlCol="0" anchor="t"/>
          <a:lstStyle/>
          <a:p>
            <a:pPr indent="0" marL="0">
              <a:buNone/>
            </a:pPr>
            <a:r>
              <a:rPr lang="en-US" sz="1200" dirty="0">
                <a:solidFill>
                  <a:schemeClr val="tx1"/>
                </a:solidFill>
              </a:rPr>
              <a:t>Borrower</a:t>
            </a:r>
            <a:endParaRPr lang="en-US" sz="1200" dirty="0"/>
          </a:p>
        </p:txBody>
      </p:sp>
      <p:sp>
        <p:nvSpPr>
          <p:cNvPr id="14" name="Shape 12"/>
          <p:cNvSpPr/>
          <p:nvPr/>
        </p:nvSpPr>
        <p:spPr>
          <a:xfrm>
            <a:off x="8677656" y="2263140"/>
            <a:ext cx="612648" cy="0"/>
          </a:xfrm>
          <a:prstGeom prst="line">
            <a:avLst/>
          </a:prstGeom>
          <a:noFill/>
          <a:ln w="22225">
            <a:solidFill>
              <a:schemeClr val="accent3"/>
            </a:solidFill>
            <a:prstDash val="solid"/>
            <a:tailEnd type="triangle"/>
          </a:ln>
        </p:spPr>
      </p:sp>
      <p:sp>
        <p:nvSpPr>
          <p:cNvPr id="15" name="Shape 13"/>
          <p:cNvSpPr/>
          <p:nvPr/>
        </p:nvSpPr>
        <p:spPr>
          <a:xfrm>
            <a:off x="9326880" y="1783080"/>
            <a:ext cx="2240280" cy="960120"/>
          </a:xfrm>
          <a:prstGeom prst="rect">
            <a:avLst/>
          </a:prstGeom>
          <a:solidFill>
            <a:schemeClr val="tx1"/>
          </a:solidFill>
          <a:ln w="15875">
            <a:solidFill>
              <a:schemeClr val="tx1"/>
            </a:solidFill>
            <a:prstDash val="solid"/>
          </a:ln>
        </p:spPr>
      </p:sp>
      <p:sp>
        <p:nvSpPr>
          <p:cNvPr id="16" name="Text 14"/>
          <p:cNvSpPr txBox="1"/>
          <p:nvPr/>
        </p:nvSpPr>
        <p:spPr>
          <a:xfrm>
            <a:off x="9436608" y="1965960"/>
            <a:ext cx="2020824" cy="320040"/>
          </a:xfrm>
          <a:prstGeom prst="rect">
            <a:avLst/>
          </a:prstGeom>
          <a:noFill/>
          <a:ln/>
        </p:spPr>
        <p:txBody>
          <a:bodyPr wrap="square" lIns="0" tIns="0" rIns="0" bIns="0" rtlCol="0" anchor="t"/>
          <a:lstStyle/>
          <a:p>
            <a:pPr indent="0" marL="0">
              <a:buNone/>
            </a:pPr>
            <a:r>
              <a:rPr lang="en-US" sz="1500" b="1" dirty="0">
                <a:solidFill>
                  <a:schemeClr val="bg1"/>
                </a:solidFill>
              </a:rPr>
              <a:t>Facility A</a:t>
            </a:r>
            <a:endParaRPr lang="en-US" sz="1500" dirty="0"/>
          </a:p>
        </p:txBody>
      </p:sp>
      <p:sp>
        <p:nvSpPr>
          <p:cNvPr id="17" name="Text 15"/>
          <p:cNvSpPr txBox="1"/>
          <p:nvPr/>
        </p:nvSpPr>
        <p:spPr>
          <a:xfrm>
            <a:off x="9436608" y="2331720"/>
            <a:ext cx="2020824" cy="274320"/>
          </a:xfrm>
          <a:prstGeom prst="rect">
            <a:avLst/>
          </a:prstGeom>
          <a:noFill/>
          <a:ln/>
        </p:spPr>
        <p:txBody>
          <a:bodyPr wrap="square" lIns="0" tIns="0" rIns="0" bIns="0" rtlCol="0" anchor="t"/>
          <a:lstStyle/>
          <a:p>
            <a:pPr indent="0" marL="0">
              <a:buNone/>
            </a:pPr>
            <a:r>
              <a:rPr lang="en-US" sz="1200" dirty="0">
                <a:solidFill>
                  <a:srgbClr val="A9B8C9"/>
                </a:solidFill>
              </a:rPr>
              <a:t>Bank exposure</a:t>
            </a:r>
            <a:endParaRPr lang="en-US" sz="1200" dirty="0"/>
          </a:p>
        </p:txBody>
      </p:sp>
      <p:sp>
        <p:nvSpPr>
          <p:cNvPr id="18" name="Text 16"/>
          <p:cNvSpPr txBox="1"/>
          <p:nvPr/>
        </p:nvSpPr>
        <p:spPr>
          <a:xfrm>
            <a:off x="548640" y="2880360"/>
            <a:ext cx="5486400" cy="256032"/>
          </a:xfrm>
          <a:prstGeom prst="rect">
            <a:avLst/>
          </a:prstGeom>
          <a:noFill/>
          <a:ln/>
        </p:spPr>
        <p:txBody>
          <a:bodyPr wrap="square" lIns="0" tIns="0" rIns="0" bIns="0" rtlCol="0" anchor="t"/>
          <a:lstStyle/>
          <a:p>
            <a:pPr indent="0" marL="0">
              <a:buNone/>
            </a:pPr>
            <a:r>
              <a:rPr lang="en-US" sz="1200" dirty="0">
                <a:solidFill>
                  <a:schemeClr val="tx2"/>
                </a:solidFill>
              </a:rPr>
              <a:t>Synthetic event: a factory fire disrupts production</a:t>
            </a:r>
            <a:endParaRPr lang="en-US" sz="1200" dirty="0"/>
          </a:p>
        </p:txBody>
      </p:sp>
      <p:sp>
        <p:nvSpPr>
          <p:cNvPr id="19" name="Text 17"/>
          <p:cNvSpPr txBox="1"/>
          <p:nvPr/>
        </p:nvSpPr>
        <p:spPr>
          <a:xfrm>
            <a:off x="6153912" y="2880360"/>
            <a:ext cx="5486400" cy="256032"/>
          </a:xfrm>
          <a:prstGeom prst="rect">
            <a:avLst/>
          </a:prstGeom>
          <a:noFill/>
          <a:ln/>
        </p:spPr>
        <p:txBody>
          <a:bodyPr wrap="square" lIns="0" tIns="0" rIns="0" bIns="0" rtlCol="0" anchor="t"/>
          <a:lstStyle/>
          <a:p>
            <a:pPr algn="r" indent="0" marL="0">
              <a:buNone/>
            </a:pPr>
            <a:r>
              <a:rPr lang="en-US" sz="1200" dirty="0">
                <a:solidFill>
                  <a:schemeClr val="tx2"/>
                </a:solidFill>
              </a:rPr>
              <a:t>The PD shock is weighted and attenuated along each edge</a:t>
            </a:r>
            <a:endParaRPr lang="en-US" sz="1200" dirty="0"/>
          </a:p>
        </p:txBody>
      </p:sp>
      <p:sp>
        <p:nvSpPr>
          <p:cNvPr id="20" name="Text 18"/>
          <p:cNvSpPr txBox="1"/>
          <p:nvPr/>
        </p:nvSpPr>
        <p:spPr>
          <a:xfrm>
            <a:off x="548640" y="3520440"/>
            <a:ext cx="2560320" cy="228600"/>
          </a:xfrm>
          <a:prstGeom prst="rect">
            <a:avLst/>
          </a:prstGeom>
          <a:noFill/>
          <a:ln/>
        </p:spPr>
        <p:txBody>
          <a:bodyPr wrap="square" lIns="0" tIns="0" rIns="0" bIns="0" rtlCol="0" anchor="t"/>
          <a:lstStyle/>
          <a:p>
            <a:pPr indent="0" marL="0">
              <a:buNone/>
            </a:pPr>
            <a:r>
              <a:rPr lang="en-US" sz="1100" b="1" spc="100" kern="0" dirty="0">
                <a:solidFill>
                  <a:schemeClr val="tx2"/>
                </a:solidFill>
              </a:rPr>
              <a:t>BASELINE EL</a:t>
            </a:r>
            <a:endParaRPr lang="en-US" sz="1100" dirty="0"/>
          </a:p>
        </p:txBody>
      </p:sp>
      <p:sp>
        <p:nvSpPr>
          <p:cNvPr id="21" name="Text 19"/>
          <p:cNvSpPr txBox="1"/>
          <p:nvPr/>
        </p:nvSpPr>
        <p:spPr>
          <a:xfrm>
            <a:off x="548640" y="3794760"/>
            <a:ext cx="2651760" cy="502920"/>
          </a:xfrm>
          <a:prstGeom prst="rect">
            <a:avLst/>
          </a:prstGeom>
          <a:noFill/>
          <a:ln/>
        </p:spPr>
        <p:txBody>
          <a:bodyPr wrap="square" lIns="0" tIns="0" rIns="0" bIns="0" rtlCol="0" anchor="t"/>
          <a:lstStyle/>
          <a:p>
            <a:pPr indent="0" marL="0">
              <a:buNone/>
            </a:pPr>
            <a:r>
              <a:rPr lang="en-US" sz="2800" b="1" dirty="0">
                <a:solidFill>
                  <a:schemeClr val="tx1"/>
                </a:solidFill>
              </a:rPr>
              <a:t>₹4,05,000</a:t>
            </a:r>
            <a:endParaRPr lang="en-US" sz="2800" dirty="0"/>
          </a:p>
        </p:txBody>
      </p:sp>
      <p:sp>
        <p:nvSpPr>
          <p:cNvPr id="22" name="Text 20"/>
          <p:cNvSpPr txBox="1"/>
          <p:nvPr/>
        </p:nvSpPr>
        <p:spPr>
          <a:xfrm>
            <a:off x="548640" y="4343400"/>
            <a:ext cx="2560320" cy="274320"/>
          </a:xfrm>
          <a:prstGeom prst="rect">
            <a:avLst/>
          </a:prstGeom>
          <a:noFill/>
          <a:ln/>
        </p:spPr>
        <p:txBody>
          <a:bodyPr wrap="square" lIns="0" tIns="0" rIns="0" bIns="0" rtlCol="0" anchor="t"/>
          <a:lstStyle/>
          <a:p>
            <a:pPr indent="0" marL="0">
              <a:buNone/>
            </a:pPr>
            <a:r>
              <a:rPr lang="en-US" sz="1300" dirty="0">
                <a:solidFill>
                  <a:schemeClr val="tx2"/>
                </a:solidFill>
              </a:rPr>
              <a:t>before the event</a:t>
            </a:r>
            <a:endParaRPr lang="en-US" sz="1300" dirty="0"/>
          </a:p>
        </p:txBody>
      </p:sp>
      <p:sp>
        <p:nvSpPr>
          <p:cNvPr id="23" name="Text 21"/>
          <p:cNvSpPr txBox="1"/>
          <p:nvPr/>
        </p:nvSpPr>
        <p:spPr>
          <a:xfrm>
            <a:off x="3200400" y="3520440"/>
            <a:ext cx="2560320" cy="228600"/>
          </a:xfrm>
          <a:prstGeom prst="rect">
            <a:avLst/>
          </a:prstGeom>
          <a:noFill/>
          <a:ln/>
        </p:spPr>
        <p:txBody>
          <a:bodyPr wrap="square" lIns="0" tIns="0" rIns="0" bIns="0" rtlCol="0" anchor="t"/>
          <a:lstStyle/>
          <a:p>
            <a:pPr indent="0" marL="0">
              <a:buNone/>
            </a:pPr>
            <a:r>
              <a:rPr lang="en-US" sz="1100" b="1" spc="100" kern="0" dirty="0">
                <a:solidFill>
                  <a:schemeClr val="tx2"/>
                </a:solidFill>
              </a:rPr>
              <a:t>STRESSED EL</a:t>
            </a:r>
            <a:endParaRPr lang="en-US" sz="1100" dirty="0"/>
          </a:p>
        </p:txBody>
      </p:sp>
      <p:sp>
        <p:nvSpPr>
          <p:cNvPr id="24" name="Text 22"/>
          <p:cNvSpPr txBox="1"/>
          <p:nvPr/>
        </p:nvSpPr>
        <p:spPr>
          <a:xfrm>
            <a:off x="3200400" y="3794760"/>
            <a:ext cx="2651760" cy="502920"/>
          </a:xfrm>
          <a:prstGeom prst="rect">
            <a:avLst/>
          </a:prstGeom>
          <a:noFill/>
          <a:ln/>
        </p:spPr>
        <p:txBody>
          <a:bodyPr wrap="square" lIns="0" tIns="0" rIns="0" bIns="0" rtlCol="0" anchor="t"/>
          <a:lstStyle/>
          <a:p>
            <a:pPr indent="0" marL="0">
              <a:buNone/>
            </a:pPr>
            <a:r>
              <a:rPr lang="en-US" sz="2800" b="1" dirty="0">
                <a:solidFill>
                  <a:schemeClr val="tx1"/>
                </a:solidFill>
              </a:rPr>
              <a:t>₹4,49,055.90</a:t>
            </a:r>
            <a:endParaRPr lang="en-US" sz="2800" dirty="0"/>
          </a:p>
        </p:txBody>
      </p:sp>
      <p:sp>
        <p:nvSpPr>
          <p:cNvPr id="25" name="Text 23"/>
          <p:cNvSpPr txBox="1"/>
          <p:nvPr/>
        </p:nvSpPr>
        <p:spPr>
          <a:xfrm>
            <a:off x="3200400" y="4343400"/>
            <a:ext cx="2560320" cy="274320"/>
          </a:xfrm>
          <a:prstGeom prst="rect">
            <a:avLst/>
          </a:prstGeom>
          <a:noFill/>
          <a:ln/>
        </p:spPr>
        <p:txBody>
          <a:bodyPr wrap="square" lIns="0" tIns="0" rIns="0" bIns="0" rtlCol="0" anchor="t"/>
          <a:lstStyle/>
          <a:p>
            <a:pPr indent="0" marL="0">
              <a:buNone/>
            </a:pPr>
            <a:r>
              <a:rPr lang="en-US" sz="1300" dirty="0">
                <a:solidFill>
                  <a:schemeClr val="tx2"/>
                </a:solidFill>
              </a:rPr>
              <a:t>after shock propagation</a:t>
            </a:r>
            <a:endParaRPr lang="en-US" sz="1300" dirty="0"/>
          </a:p>
        </p:txBody>
      </p:sp>
      <p:sp>
        <p:nvSpPr>
          <p:cNvPr id="26" name="Text 24"/>
          <p:cNvSpPr txBox="1"/>
          <p:nvPr/>
        </p:nvSpPr>
        <p:spPr>
          <a:xfrm>
            <a:off x="6035040" y="3520440"/>
            <a:ext cx="2560320" cy="228600"/>
          </a:xfrm>
          <a:prstGeom prst="rect">
            <a:avLst/>
          </a:prstGeom>
          <a:noFill/>
          <a:ln/>
        </p:spPr>
        <p:txBody>
          <a:bodyPr wrap="square" lIns="0" tIns="0" rIns="0" bIns="0" rtlCol="0" anchor="t"/>
          <a:lstStyle/>
          <a:p>
            <a:pPr indent="0" marL="0">
              <a:buNone/>
            </a:pPr>
            <a:r>
              <a:rPr lang="en-US" sz="1100" b="1" spc="100" kern="0" dirty="0">
                <a:solidFill>
                  <a:schemeClr val="tx2"/>
                </a:solidFill>
              </a:rPr>
              <a:t>INCREMENTAL EL (ΔEL)</a:t>
            </a:r>
            <a:endParaRPr lang="en-US" sz="1100" dirty="0"/>
          </a:p>
        </p:txBody>
      </p:sp>
      <p:sp>
        <p:nvSpPr>
          <p:cNvPr id="27" name="Text 25"/>
          <p:cNvSpPr txBox="1"/>
          <p:nvPr/>
        </p:nvSpPr>
        <p:spPr>
          <a:xfrm>
            <a:off x="6035040" y="3794760"/>
            <a:ext cx="2651760" cy="502920"/>
          </a:xfrm>
          <a:prstGeom prst="rect">
            <a:avLst/>
          </a:prstGeom>
          <a:noFill/>
          <a:ln/>
        </p:spPr>
        <p:txBody>
          <a:bodyPr wrap="square" lIns="0" tIns="0" rIns="0" bIns="0" rtlCol="0" anchor="t"/>
          <a:lstStyle/>
          <a:p>
            <a:pPr indent="0" marL="0">
              <a:buNone/>
            </a:pPr>
            <a:r>
              <a:rPr lang="en-US" sz="2800" b="1" dirty="0">
                <a:solidFill>
                  <a:schemeClr val="accent3"/>
                </a:solidFill>
              </a:rPr>
              <a:t>₹44,055.90</a:t>
            </a:r>
            <a:endParaRPr lang="en-US" sz="2800" dirty="0"/>
          </a:p>
        </p:txBody>
      </p:sp>
      <p:sp>
        <p:nvSpPr>
          <p:cNvPr id="28" name="Text 26"/>
          <p:cNvSpPr txBox="1"/>
          <p:nvPr/>
        </p:nvSpPr>
        <p:spPr>
          <a:xfrm>
            <a:off x="6035040" y="4343400"/>
            <a:ext cx="2560320" cy="274320"/>
          </a:xfrm>
          <a:prstGeom prst="rect">
            <a:avLst/>
          </a:prstGeom>
          <a:noFill/>
          <a:ln/>
        </p:spPr>
        <p:txBody>
          <a:bodyPr wrap="square" lIns="0" tIns="0" rIns="0" bIns="0" rtlCol="0" anchor="t"/>
          <a:lstStyle/>
          <a:p>
            <a:pPr indent="0" marL="0">
              <a:buNone/>
            </a:pPr>
            <a:r>
              <a:rPr lang="en-US" sz="1300" dirty="0">
                <a:solidFill>
                  <a:schemeClr val="tx2"/>
                </a:solidFill>
              </a:rPr>
              <a:t>+10.88% vs baseline</a:t>
            </a:r>
            <a:endParaRPr lang="en-US" sz="1300" dirty="0"/>
          </a:p>
        </p:txBody>
      </p:sp>
      <p:sp>
        <p:nvSpPr>
          <p:cNvPr id="29" name="Shape 27"/>
          <p:cNvSpPr/>
          <p:nvPr/>
        </p:nvSpPr>
        <p:spPr>
          <a:xfrm>
            <a:off x="548640" y="4846320"/>
            <a:ext cx="7092086" cy="292608"/>
          </a:xfrm>
          <a:prstGeom prst="rect">
            <a:avLst/>
          </a:prstGeom>
          <a:solidFill>
            <a:schemeClr val="tx1"/>
          </a:solidFill>
          <a:ln w="12700">
            <a:solidFill>
              <a:schemeClr val="tx1"/>
            </a:solidFill>
            <a:prstDash val="solid"/>
          </a:ln>
        </p:spPr>
      </p:sp>
      <p:sp>
        <p:nvSpPr>
          <p:cNvPr id="30" name="Shape 28"/>
          <p:cNvSpPr/>
          <p:nvPr/>
        </p:nvSpPr>
        <p:spPr>
          <a:xfrm>
            <a:off x="7640726" y="4846320"/>
            <a:ext cx="771754" cy="292608"/>
          </a:xfrm>
          <a:prstGeom prst="rect">
            <a:avLst/>
          </a:prstGeom>
          <a:solidFill>
            <a:schemeClr val="accent3"/>
          </a:solidFill>
          <a:ln w="12700">
            <a:solidFill>
              <a:schemeClr val="accent3"/>
            </a:solidFill>
            <a:prstDash val="solid"/>
          </a:ln>
        </p:spPr>
      </p:sp>
      <p:sp>
        <p:nvSpPr>
          <p:cNvPr id="31" name="Text 29"/>
          <p:cNvSpPr txBox="1"/>
          <p:nvPr/>
        </p:nvSpPr>
        <p:spPr>
          <a:xfrm>
            <a:off x="548640" y="5212080"/>
            <a:ext cx="4572000" cy="228600"/>
          </a:xfrm>
          <a:prstGeom prst="rect">
            <a:avLst/>
          </a:prstGeom>
          <a:noFill/>
          <a:ln/>
        </p:spPr>
        <p:txBody>
          <a:bodyPr wrap="square" lIns="0" tIns="0" rIns="0" bIns="0" rtlCol="0" anchor="t"/>
          <a:lstStyle/>
          <a:p>
            <a:pPr indent="0" marL="0">
              <a:buNone/>
            </a:pPr>
            <a:r>
              <a:rPr lang="en-US" sz="1100" dirty="0">
                <a:solidFill>
                  <a:schemeClr val="tx2"/>
                </a:solidFill>
              </a:rPr>
              <a:t>Baseline and increment drawn to scale</a:t>
            </a:r>
            <a:endParaRPr lang="en-US" sz="1100" dirty="0"/>
          </a:p>
        </p:txBody>
      </p:sp>
      <p:sp>
        <p:nvSpPr>
          <p:cNvPr id="32" name="Text 30"/>
          <p:cNvSpPr txBox="1"/>
          <p:nvPr/>
        </p:nvSpPr>
        <p:spPr>
          <a:xfrm>
            <a:off x="7498080" y="5212080"/>
            <a:ext cx="914400" cy="228600"/>
          </a:xfrm>
          <a:prstGeom prst="rect">
            <a:avLst/>
          </a:prstGeom>
          <a:noFill/>
          <a:ln/>
        </p:spPr>
        <p:txBody>
          <a:bodyPr wrap="square" lIns="0" tIns="0" rIns="0" bIns="0" rtlCol="0" anchor="t"/>
          <a:lstStyle/>
          <a:p>
            <a:pPr algn="r" indent="0" marL="0">
              <a:buNone/>
            </a:pPr>
            <a:r>
              <a:rPr lang="en-US" sz="1100" b="1" dirty="0">
                <a:solidFill>
                  <a:schemeClr val="accent3"/>
                </a:solidFill>
              </a:rPr>
              <a:t>ΔEL</a:t>
            </a:r>
            <a:endParaRPr lang="en-US" sz="1100" dirty="0"/>
          </a:p>
        </p:txBody>
      </p:sp>
      <p:sp>
        <p:nvSpPr>
          <p:cNvPr id="33" name="Text 31"/>
          <p:cNvSpPr txBox="1"/>
          <p:nvPr/>
        </p:nvSpPr>
        <p:spPr>
          <a:xfrm>
            <a:off x="8915400" y="3520440"/>
            <a:ext cx="2743200" cy="228600"/>
          </a:xfrm>
          <a:prstGeom prst="rect">
            <a:avLst/>
          </a:prstGeom>
          <a:noFill/>
          <a:ln/>
        </p:spPr>
        <p:txBody>
          <a:bodyPr wrap="square" lIns="0" tIns="0" rIns="0" bIns="0" rtlCol="0" anchor="t"/>
          <a:lstStyle/>
          <a:p>
            <a:pPr indent="0" marL="0">
              <a:buNone/>
            </a:pPr>
            <a:r>
              <a:rPr lang="en-US" sz="1100" b="1" spc="100" kern="0" dirty="0">
                <a:solidFill>
                  <a:schemeClr val="tx2"/>
                </a:solidFill>
              </a:rPr>
              <a:t>EXPECTED LOSS</a:t>
            </a:r>
            <a:endParaRPr lang="en-US" sz="1100" dirty="0"/>
          </a:p>
        </p:txBody>
      </p:sp>
      <p:sp>
        <p:nvSpPr>
          <p:cNvPr id="34" name="Text 32"/>
          <p:cNvSpPr txBox="1"/>
          <p:nvPr/>
        </p:nvSpPr>
        <p:spPr>
          <a:xfrm>
            <a:off x="8915400" y="3794760"/>
            <a:ext cx="2743200" cy="365760"/>
          </a:xfrm>
          <a:prstGeom prst="rect">
            <a:avLst/>
          </a:prstGeom>
          <a:noFill/>
          <a:ln/>
        </p:spPr>
        <p:txBody>
          <a:bodyPr wrap="square" lIns="0" tIns="0" rIns="0" bIns="0" rtlCol="0" anchor="t"/>
          <a:lstStyle/>
          <a:p>
            <a:pPr indent="0" marL="0">
              <a:buNone/>
            </a:pPr>
            <a:r>
              <a:rPr lang="en-US" sz="1900" b="1" dirty="0">
                <a:solidFill>
                  <a:schemeClr val="tx1"/>
                </a:solidFill>
              </a:rPr>
              <a:t>EL = EAD × PD × LGD</a:t>
            </a:r>
            <a:endParaRPr lang="en-US" sz="1900" dirty="0"/>
          </a:p>
        </p:txBody>
      </p:sp>
      <p:sp>
        <p:nvSpPr>
          <p:cNvPr id="35" name="Text 33"/>
          <p:cNvSpPr txBox="1"/>
          <p:nvPr/>
        </p:nvSpPr>
        <p:spPr>
          <a:xfrm>
            <a:off x="8915400" y="4297680"/>
            <a:ext cx="2743200" cy="274320"/>
          </a:xfrm>
          <a:prstGeom prst="rect">
            <a:avLst/>
          </a:prstGeom>
          <a:noFill/>
          <a:ln/>
        </p:spPr>
        <p:txBody>
          <a:bodyPr wrap="square" lIns="0" tIns="0" rIns="0" bIns="0" rtlCol="0" anchor="t"/>
          <a:lstStyle/>
          <a:p>
            <a:pPr indent="0" marL="0">
              <a:buNone/>
            </a:pPr>
            <a:r>
              <a:rPr lang="en-US" sz="1300" dirty="0">
                <a:solidFill>
                  <a:schemeClr val="tx2"/>
                </a:solidFill>
              </a:rPr>
              <a:t>ΔEL = Stressed EL − Baseline EL</a:t>
            </a:r>
            <a:endParaRPr lang="en-US" sz="1300" dirty="0"/>
          </a:p>
        </p:txBody>
      </p:sp>
      <p:sp>
        <p:nvSpPr>
          <p:cNvPr id="36" name="Text 34"/>
          <p:cNvSpPr txBox="1"/>
          <p:nvPr/>
        </p:nvSpPr>
        <p:spPr>
          <a:xfrm>
            <a:off x="8915400" y="4617720"/>
            <a:ext cx="2743200" cy="274320"/>
          </a:xfrm>
          <a:prstGeom prst="rect">
            <a:avLst/>
          </a:prstGeom>
          <a:noFill/>
          <a:ln/>
        </p:spPr>
        <p:txBody>
          <a:bodyPr wrap="square" lIns="0" tIns="0" rIns="0" bIns="0" rtlCol="0" anchor="t"/>
          <a:lstStyle/>
          <a:p>
            <a:pPr indent="0" marL="0">
              <a:buNone/>
            </a:pPr>
            <a:r>
              <a:rPr lang="en-US" sz="1200" dirty="0">
                <a:solidFill>
                  <a:schemeClr val="tx2"/>
                </a:solidFill>
              </a:rPr>
              <a:t>Deterministic given the configured inputs</a:t>
            </a:r>
            <a:endParaRPr lang="en-US" sz="1200" dirty="0"/>
          </a:p>
        </p:txBody>
      </p:sp>
      <p:sp>
        <p:nvSpPr>
          <p:cNvPr id="37" name="Shape 35"/>
          <p:cNvSpPr/>
          <p:nvPr/>
        </p:nvSpPr>
        <p:spPr>
          <a:xfrm>
            <a:off x="548640" y="5623560"/>
            <a:ext cx="11091672" cy="0"/>
          </a:xfrm>
          <a:prstGeom prst="line">
            <a:avLst/>
          </a:prstGeom>
          <a:noFill/>
          <a:ln w="9525">
            <a:solidFill>
              <a:srgbClr val="D5DBE3"/>
            </a:solidFill>
            <a:prstDash val="solid"/>
          </a:ln>
        </p:spPr>
      </p:sp>
      <p:sp>
        <p:nvSpPr>
          <p:cNvPr id="38" name="Text 36"/>
          <p:cNvSpPr txBox="1"/>
          <p:nvPr/>
        </p:nvSpPr>
        <p:spPr>
          <a:xfrm>
            <a:off x="548640" y="5733288"/>
            <a:ext cx="11091672" cy="502920"/>
          </a:xfrm>
          <a:prstGeom prst="rect">
            <a:avLst/>
          </a:prstGeom>
          <a:noFill/>
          <a:ln/>
        </p:spPr>
        <p:txBody>
          <a:bodyPr wrap="square" lIns="0" tIns="0" rIns="0" bIns="0" rtlCol="0" anchor="t"/>
          <a:lstStyle/>
          <a:p>
            <a:pPr indent="0" marL="0">
              <a:buNone/>
            </a:pPr>
            <a:r>
              <a:rPr lang="en-US" sz="1300" i="1" dirty="0">
                <a:solidFill>
                  <a:schemeClr val="tx1"/>
                </a:solidFill>
              </a:rPr>
              <a:t>Entire scenario and portfolio are synthetic. PD-shock assumptions are illustrative, not statistically calibrated. Results are not a real-world forecast.</a:t>
            </a:r>
            <a:endParaRPr lang="en-US" sz="13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lIns="0" tIns="0" rIns="0" bIns="0" rtlCol="0" anchor="t"/>
          <a:lstStyle/>
          <a:p>
            <a:pPr algn="l" indent="0" marL="0">
              <a:buNone/>
            </a:pPr>
            <a:r>
              <a:rPr lang="en-US" sz="3200" b="1" dirty="0">
                <a:solidFill>
                  <a:schemeClr val="tx1"/>
                </a:solidFill>
              </a:rPr>
              <a:t>A potential intelligence-to-workflow layer for credit-risk analysis</a:t>
            </a:r>
            <a:endParaRPr lang="en-US" sz="3200" dirty="0"/>
          </a:p>
        </p:txBody>
      </p:sp>
      <p:sp>
        <p:nvSpPr>
          <p:cNvPr id="3" name="Text 1"/>
          <p:cNvSpPr txBox="1"/>
          <p:nvPr/>
        </p:nvSpPr>
        <p:spPr>
          <a:xfrm>
            <a:off x="548640" y="1691640"/>
            <a:ext cx="338328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A · POTENTIAL CUSTOMERS</a:t>
            </a:r>
            <a:endParaRPr lang="en-US" sz="1100" dirty="0"/>
          </a:p>
        </p:txBody>
      </p:sp>
      <p:sp>
        <p:nvSpPr>
          <p:cNvPr id="4" name="Text 2"/>
          <p:cNvSpPr txBox="1"/>
          <p:nvPr/>
        </p:nvSpPr>
        <p:spPr>
          <a:xfrm>
            <a:off x="548640" y="2011680"/>
            <a:ext cx="3383280" cy="32918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Banks and lenders</a:t>
            </a:r>
            <a:endParaRPr lang="en-US" sz="1500" dirty="0"/>
          </a:p>
          <a:p>
            <a:pPr marL="177800" indent="-177800">
              <a:spcAft>
                <a:spcPts val="800"/>
              </a:spcAft>
              <a:buSzPct val="100000"/>
              <a:buChar char="•"/>
            </a:pPr>
            <a:r>
              <a:rPr lang="en-US" sz="1500" dirty="0">
                <a:solidFill>
                  <a:schemeClr val="tx1"/>
                </a:solidFill>
              </a:rPr>
              <a:t>Credit and portfolio-risk teams</a:t>
            </a:r>
            <a:endParaRPr lang="en-US" sz="1500" dirty="0"/>
          </a:p>
          <a:p>
            <a:pPr marL="177800" indent="-177800">
              <a:spcAft>
                <a:spcPts val="800"/>
              </a:spcAft>
              <a:buSzPct val="100000"/>
              <a:buChar char="•"/>
            </a:pPr>
            <a:r>
              <a:rPr lang="en-US" sz="1500" dirty="0">
                <a:solidFill>
                  <a:schemeClr val="tx1"/>
                </a:solidFill>
              </a:rPr>
              <a:t>Corporate counterparty-risk teams</a:t>
            </a:r>
            <a:endParaRPr lang="en-US" sz="1500" dirty="0"/>
          </a:p>
          <a:p>
            <a:pPr marL="177800" indent="-177800">
              <a:spcAft>
                <a:spcPts val="800"/>
              </a:spcAft>
              <a:buSzPct val="100000"/>
              <a:buChar char="•"/>
            </a:pPr>
            <a:r>
              <a:rPr lang="en-US" sz="1500" dirty="0">
                <a:solidFill>
                  <a:schemeClr val="tx1"/>
                </a:solidFill>
              </a:rPr>
              <a:t>Financial institutions monitoring supplier and operational exposure</a:t>
            </a:r>
            <a:endParaRPr lang="en-US" sz="1500" dirty="0"/>
          </a:p>
        </p:txBody>
      </p:sp>
      <p:sp>
        <p:nvSpPr>
          <p:cNvPr id="5" name="Text 3"/>
          <p:cNvSpPr txBox="1"/>
          <p:nvPr/>
        </p:nvSpPr>
        <p:spPr>
          <a:xfrm>
            <a:off x="4343400" y="1691640"/>
            <a:ext cx="347472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B · PROPOSED BUSINESS MODEL</a:t>
            </a:r>
            <a:endParaRPr lang="en-US" sz="1100" dirty="0"/>
          </a:p>
        </p:txBody>
      </p:sp>
      <p:sp>
        <p:nvSpPr>
          <p:cNvPr id="6" name="Text 4"/>
          <p:cNvSpPr txBox="1"/>
          <p:nvPr/>
        </p:nvSpPr>
        <p:spPr>
          <a:xfrm>
            <a:off x="4343400" y="2011680"/>
            <a:ext cx="3474720" cy="228600"/>
          </a:xfrm>
          <a:prstGeom prst="rect">
            <a:avLst/>
          </a:prstGeom>
          <a:noFill/>
          <a:ln/>
        </p:spPr>
        <p:txBody>
          <a:bodyPr wrap="square" lIns="0" tIns="0" rIns="0" bIns="0" rtlCol="0" anchor="t"/>
          <a:lstStyle/>
          <a:p>
            <a:pPr indent="0" marL="0">
              <a:buNone/>
            </a:pPr>
            <a:r>
              <a:rPr lang="en-US" sz="1300" b="1" dirty="0">
                <a:solidFill>
                  <a:schemeClr val="tx2"/>
                </a:solidFill>
              </a:rPr>
              <a:t>Offerings</a:t>
            </a:r>
            <a:endParaRPr lang="en-US" sz="1300" dirty="0"/>
          </a:p>
        </p:txBody>
      </p:sp>
      <p:sp>
        <p:nvSpPr>
          <p:cNvPr id="7" name="Text 5"/>
          <p:cNvSpPr txBox="1"/>
          <p:nvPr/>
        </p:nvSpPr>
        <p:spPr>
          <a:xfrm>
            <a:off x="4343400" y="2267712"/>
            <a:ext cx="3474720" cy="18288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Enterprise subscription for event monitoring and risk review</a:t>
            </a:r>
            <a:endParaRPr lang="en-US" sz="1300" dirty="0"/>
          </a:p>
          <a:p>
            <a:pPr marL="177800" indent="-177800">
              <a:spcAft>
                <a:spcPts val="400"/>
              </a:spcAft>
              <a:buSzPct val="100000"/>
              <a:buChar char="•"/>
            </a:pPr>
            <a:r>
              <a:rPr lang="en-US" sz="1300" dirty="0">
                <a:solidFill>
                  <a:schemeClr val="tx1"/>
                </a:solidFill>
              </a:rPr>
              <a:t>API or feed of evidence-linked risk signals</a:t>
            </a:r>
            <a:endParaRPr lang="en-US" sz="1300" dirty="0"/>
          </a:p>
          <a:p>
            <a:pPr marL="177800" indent="-177800">
              <a:spcAft>
                <a:spcPts val="400"/>
              </a:spcAft>
              <a:buSzPct val="100000"/>
              <a:buChar char="•"/>
            </a:pPr>
            <a:r>
              <a:rPr lang="en-US" sz="1300" dirty="0">
                <a:solidFill>
                  <a:schemeClr val="tx1"/>
                </a:solidFill>
              </a:rPr>
              <a:t>Tiers by monitored entities, data volume or workflow</a:t>
            </a:r>
            <a:endParaRPr lang="en-US" sz="1300" dirty="0"/>
          </a:p>
          <a:p>
            <a:pPr marL="177800" indent="-177800">
              <a:spcAft>
                <a:spcPts val="400"/>
              </a:spcAft>
              <a:buSzPct val="100000"/>
              <a:buChar char="•"/>
            </a:pPr>
            <a:r>
              <a:rPr lang="en-US" sz="1300" dirty="0">
                <a:solidFill>
                  <a:schemeClr val="tx1"/>
                </a:solidFill>
              </a:rPr>
              <a:t>Integrations and configurable services</a:t>
            </a:r>
            <a:endParaRPr lang="en-US" sz="1300" dirty="0"/>
          </a:p>
        </p:txBody>
      </p:sp>
      <p:sp>
        <p:nvSpPr>
          <p:cNvPr id="8" name="Text 6"/>
          <p:cNvSpPr txBox="1"/>
          <p:nvPr/>
        </p:nvSpPr>
        <p:spPr>
          <a:xfrm>
            <a:off x="4343400" y="3931920"/>
            <a:ext cx="3474720" cy="228600"/>
          </a:xfrm>
          <a:prstGeom prst="rect">
            <a:avLst/>
          </a:prstGeom>
          <a:noFill/>
          <a:ln/>
        </p:spPr>
        <p:txBody>
          <a:bodyPr wrap="square" lIns="0" tIns="0" rIns="0" bIns="0" rtlCol="0" anchor="t"/>
          <a:lstStyle/>
          <a:p>
            <a:pPr indent="0" marL="0">
              <a:buNone/>
            </a:pPr>
            <a:r>
              <a:rPr lang="en-US" sz="1300" b="1" dirty="0">
                <a:solidFill>
                  <a:schemeClr val="tx2"/>
                </a:solidFill>
              </a:rPr>
              <a:t>Possible revenue sources</a:t>
            </a:r>
            <a:endParaRPr lang="en-US" sz="1300" dirty="0"/>
          </a:p>
        </p:txBody>
      </p:sp>
      <p:sp>
        <p:nvSpPr>
          <p:cNvPr id="9" name="Text 7"/>
          <p:cNvSpPr txBox="1"/>
          <p:nvPr/>
        </p:nvSpPr>
        <p:spPr>
          <a:xfrm>
            <a:off x="4343400" y="4187952"/>
            <a:ext cx="3474720" cy="82296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Annual enterprise licences</a:t>
            </a:r>
            <a:endParaRPr lang="en-US" sz="1300" dirty="0"/>
          </a:p>
          <a:p>
            <a:pPr marL="177800" indent="-177800">
              <a:spcAft>
                <a:spcPts val="300"/>
              </a:spcAft>
              <a:buSzPct val="100000"/>
              <a:buChar char="•"/>
            </a:pPr>
            <a:r>
              <a:rPr lang="en-US" sz="1300" dirty="0">
                <a:solidFill>
                  <a:schemeClr val="tx1"/>
                </a:solidFill>
              </a:rPr>
              <a:t>API usage tiers</a:t>
            </a:r>
            <a:endParaRPr lang="en-US" sz="1300" dirty="0"/>
          </a:p>
          <a:p>
            <a:pPr marL="177800" indent="-177800">
              <a:spcAft>
                <a:spcPts val="300"/>
              </a:spcAft>
              <a:buSzPct val="100000"/>
              <a:buChar char="•"/>
            </a:pPr>
            <a:r>
              <a:rPr lang="en-US" sz="1300" dirty="0">
                <a:solidFill>
                  <a:schemeClr val="tx1"/>
                </a:solidFill>
              </a:rPr>
              <a:t>Implementation and integration services</a:t>
            </a:r>
            <a:endParaRPr lang="en-US" sz="1300" dirty="0"/>
          </a:p>
        </p:txBody>
      </p:sp>
      <p:sp>
        <p:nvSpPr>
          <p:cNvPr id="10" name="Text 8"/>
          <p:cNvSpPr txBox="1"/>
          <p:nvPr/>
        </p:nvSpPr>
        <p:spPr>
          <a:xfrm>
            <a:off x="4343400" y="5120640"/>
            <a:ext cx="3474720" cy="411480"/>
          </a:xfrm>
          <a:prstGeom prst="rect">
            <a:avLst/>
          </a:prstGeom>
          <a:noFill/>
          <a:ln/>
        </p:spPr>
        <p:txBody>
          <a:bodyPr wrap="square" lIns="0" tIns="0" rIns="0" bIns="0" rtlCol="0" anchor="t"/>
          <a:lstStyle/>
          <a:p>
            <a:pPr indent="0" marL="0">
              <a:buNone/>
            </a:pPr>
            <a:r>
              <a:rPr lang="en-US" sz="1200" b="1" i="1" dirty="0">
                <a:solidFill>
                  <a:schemeClr val="accent2"/>
                </a:solidFill>
              </a:rPr>
              <a:t>Proposal only: no revenue, customers or pricing validation yet.</a:t>
            </a:r>
            <a:endParaRPr lang="en-US" sz="1200" dirty="0"/>
          </a:p>
        </p:txBody>
      </p:sp>
      <p:sp>
        <p:nvSpPr>
          <p:cNvPr id="11" name="Text 9"/>
          <p:cNvSpPr txBox="1"/>
          <p:nvPr/>
        </p:nvSpPr>
        <p:spPr>
          <a:xfrm>
            <a:off x="8138160" y="1691640"/>
            <a:ext cx="3502152"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C · WHY IT MAY FIT S&amp;P GLOBAL AND CRISIL</a:t>
            </a:r>
            <a:endParaRPr lang="en-US" sz="1100" dirty="0"/>
          </a:p>
        </p:txBody>
      </p:sp>
      <p:sp>
        <p:nvSpPr>
          <p:cNvPr id="12" name="Text 10"/>
          <p:cNvSpPr txBox="1"/>
          <p:nvPr/>
        </p:nvSpPr>
        <p:spPr>
          <a:xfrm>
            <a:off x="8138160" y="2011680"/>
            <a:ext cx="3502152" cy="3200400"/>
          </a:xfrm>
          <a:prstGeom prst="rect">
            <a:avLst/>
          </a:prstGeom>
          <a:noFill/>
          <a:ln/>
        </p:spPr>
        <p:txBody>
          <a:bodyPr wrap="square" lIns="0" tIns="0" rIns="0" bIns="0" rtlCol="0" anchor="t"/>
          <a:lstStyle/>
          <a:p>
            <a:pPr indent="0" marL="0">
              <a:buNone/>
            </a:pPr>
            <a:r>
              <a:rPr lang="en-US" sz="1300" b="1" dirty="0">
                <a:solidFill>
                  <a:schemeClr val="tx1"/>
                </a:solidFill>
              </a:rPr>
              <a:t>S&amp;P Global  </a:t>
            </a:r>
            <a:pPr indent="0" marL="0">
              <a:spcAft>
                <a:spcPts val="800"/>
              </a:spcAft>
              <a:buNone/>
            </a:pPr>
            <a:r>
              <a:rPr lang="en-US" sz="1300" dirty="0">
                <a:solidFill>
                  <a:schemeClr val="tx1"/>
                </a:solidFill>
              </a:rPr>
              <a:t>Market Intelligence offers credit, market and operational risk solutions, including PD/LGD models and counterparty monitoring. RiskCascade could be explored as a complementary way to link public-event evidence to assumed exposures and scenarios.</a:t>
            </a:r>
            <a:endParaRPr lang="en-US" sz="1300" dirty="0"/>
          </a:p>
          <a:p>
            <a:pPr indent="0" marL="0">
              <a:buNone/>
            </a:pPr>
            <a:r>
              <a:rPr lang="en-US" sz="1300" b="1" dirty="0">
                <a:solidFill>
                  <a:schemeClr val="tx1"/>
                </a:solidFill>
              </a:rPr>
              <a:t>CRISIL  </a:t>
            </a:r>
            <a:pPr indent="0" marL="0">
              <a:buNone/>
            </a:pPr>
            <a:r>
              <a:rPr lang="en-US" sz="1300" dirty="0">
                <a:solidFill>
                  <a:schemeClr val="tx1"/>
                </a:solidFill>
              </a:rPr>
              <a:t>provides risk models, platforms and assessments, and its Global Analytics Centre supports S&amp;P Global with credit and risk analytics. RiskCascade could be explored as an analyst-workflow concept for structured event analysis and transparent scenarios.</a:t>
            </a:r>
            <a:endParaRPr lang="en-US" sz="1300" dirty="0"/>
          </a:p>
        </p:txBody>
      </p:sp>
      <p:sp>
        <p:nvSpPr>
          <p:cNvPr id="13" name="Text 11"/>
          <p:cNvSpPr txBox="1"/>
          <p:nvPr/>
        </p:nvSpPr>
        <p:spPr>
          <a:xfrm>
            <a:off x="8138160" y="5257800"/>
            <a:ext cx="3502152" cy="365760"/>
          </a:xfrm>
          <a:prstGeom prst="rect">
            <a:avLst/>
          </a:prstGeom>
          <a:noFill/>
          <a:ln/>
        </p:spPr>
        <p:txBody>
          <a:bodyPr wrap="square" lIns="0" tIns="0" rIns="0" bIns="0" rtlCol="0" anchor="t"/>
          <a:lstStyle/>
          <a:p>
            <a:pPr indent="0" marL="0">
              <a:buNone/>
            </a:pPr>
            <a:r>
              <a:rPr lang="en-US" sz="1200" i="1" dirty="0">
                <a:solidFill>
                  <a:schemeClr val="tx2"/>
                </a:solidFill>
              </a:rPr>
              <a:t>A prototype concept. Neither organisation has asked for, or agreed to, this product.</a:t>
            </a:r>
            <a:endParaRPr lang="en-US" sz="1200" dirty="0"/>
          </a:p>
        </p:txBody>
      </p:sp>
      <p:sp>
        <p:nvSpPr>
          <p:cNvPr id="14" name="Shape 12"/>
          <p:cNvSpPr/>
          <p:nvPr/>
        </p:nvSpPr>
        <p:spPr>
          <a:xfrm>
            <a:off x="4114800" y="1691640"/>
            <a:ext cx="0" cy="3931920"/>
          </a:xfrm>
          <a:prstGeom prst="line">
            <a:avLst/>
          </a:prstGeom>
          <a:noFill/>
          <a:ln w="9525">
            <a:solidFill>
              <a:srgbClr val="D5DBE3"/>
            </a:solidFill>
            <a:prstDash val="solid"/>
          </a:ln>
        </p:spPr>
      </p:sp>
      <p:sp>
        <p:nvSpPr>
          <p:cNvPr id="15" name="Shape 13"/>
          <p:cNvSpPr/>
          <p:nvPr/>
        </p:nvSpPr>
        <p:spPr>
          <a:xfrm>
            <a:off x="7909560" y="1691640"/>
            <a:ext cx="0" cy="3931920"/>
          </a:xfrm>
          <a:prstGeom prst="line">
            <a:avLst/>
          </a:prstGeom>
          <a:noFill/>
          <a:ln w="9525">
            <a:solidFill>
              <a:srgbClr val="D5DBE3"/>
            </a:solidFill>
            <a:prstDash val="solid"/>
          </a:ln>
        </p:spPr>
      </p:sp>
      <p:sp>
        <p:nvSpPr>
          <p:cNvPr id="16" name="Shape 14"/>
          <p:cNvSpPr/>
          <p:nvPr/>
        </p:nvSpPr>
        <p:spPr>
          <a:xfrm>
            <a:off x="548640" y="5760720"/>
            <a:ext cx="11091672" cy="0"/>
          </a:xfrm>
          <a:prstGeom prst="line">
            <a:avLst/>
          </a:prstGeom>
          <a:noFill/>
          <a:ln w="9525">
            <a:solidFill>
              <a:srgbClr val="D5DBE3"/>
            </a:solidFill>
            <a:prstDash val="solid"/>
          </a:ln>
        </p:spPr>
      </p:sp>
      <p:sp>
        <p:nvSpPr>
          <p:cNvPr id="17" name="Text 15"/>
          <p:cNvSpPr txBox="1"/>
          <p:nvPr/>
        </p:nvSpPr>
        <p:spPr>
          <a:xfrm>
            <a:off x="548640" y="5852160"/>
            <a:ext cx="11091672" cy="457200"/>
          </a:xfrm>
          <a:prstGeom prst="rect">
            <a:avLst/>
          </a:prstGeom>
          <a:noFill/>
          <a:ln/>
        </p:spPr>
        <p:txBody>
          <a:bodyPr wrap="square" lIns="0" tIns="0" rIns="0" bIns="0" rtlCol="0" anchor="t"/>
          <a:lstStyle/>
          <a:p>
            <a:pPr indent="0" marL="0">
              <a:buNone/>
            </a:pPr>
            <a:r>
              <a:rPr lang="en-US" sz="1000" dirty="0">
                <a:solidFill>
                  <a:schemeClr val="tx2"/>
                </a:solidFill>
              </a:rPr>
              <a:t>Sources: S&amp;P Global, Credit &amp; Risk Solutions (spglobal.com/market-intelligence/en/solutions/credit-risk-solutions)  ·  CRISIL, Risk Solutions (crisil.com/en/home/our-businesses/crisil-intelligence/risk-solutions.html)  ·  CRISIL, Global Analytics Centre (crisil.com/en/home/our-businesses/global-analytical-centre.html). Pages checked Oct 2026. No endorsement implied.</a:t>
            </a:r>
            <a:endParaRPr lang="en-US" sz="10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1143000"/>
          </a:xfrm>
          <a:prstGeom prst="rect">
            <a:avLst/>
          </a:prstGeom>
          <a:noFill/>
          <a:ln/>
        </p:spPr>
        <p:txBody>
          <a:bodyPr wrap="square" lIns="0" tIns="0" rIns="0" bIns="0" rtlCol="0" anchor="t"/>
          <a:lstStyle/>
          <a:p>
            <a:pPr algn="l" indent="0" marL="0">
              <a:buNone/>
            </a:pPr>
            <a:r>
              <a:rPr lang="en-US" sz="3200" b="1" dirty="0">
                <a:solidFill>
                  <a:schemeClr val="bg1"/>
                </a:solidFill>
              </a:rPr>
              <a:t>From a public event to an explainable portfolio-risk scenario</a:t>
            </a:r>
            <a:endParaRPr lang="en-US" sz="3200" dirty="0"/>
          </a:p>
        </p:txBody>
      </p:sp>
      <p:sp>
        <p:nvSpPr>
          <p:cNvPr id="3" name="Text 1"/>
          <p:cNvSpPr txBox="1"/>
          <p:nvPr/>
        </p:nvSpPr>
        <p:spPr>
          <a:xfrm>
            <a:off x="548640" y="1737360"/>
            <a:ext cx="5303520" cy="228600"/>
          </a:xfrm>
          <a:prstGeom prst="rect">
            <a:avLst/>
          </a:prstGeom>
          <a:noFill/>
          <a:ln/>
        </p:spPr>
        <p:txBody>
          <a:bodyPr wrap="square" lIns="0" tIns="0" rIns="0" bIns="0" rtlCol="0" anchor="t"/>
          <a:lstStyle/>
          <a:p>
            <a:pPr indent="0" marL="0">
              <a:buNone/>
            </a:pPr>
            <a:r>
              <a:rPr lang="en-US" sz="1100" b="1" spc="100" kern="0" dirty="0">
                <a:solidFill>
                  <a:srgbClr val="7DD3C8"/>
                </a:solidFill>
              </a:rPr>
              <a:t>DEMONSTRATED IN THE PROTOTYPE</a:t>
            </a:r>
            <a:endParaRPr lang="en-US" sz="1100" dirty="0"/>
          </a:p>
        </p:txBody>
      </p:sp>
      <p:sp>
        <p:nvSpPr>
          <p:cNvPr id="4" name="Text 2"/>
          <p:cNvSpPr txBox="1"/>
          <p:nvPr/>
        </p:nvSpPr>
        <p:spPr>
          <a:xfrm>
            <a:off x="548640" y="2148840"/>
            <a:ext cx="457200" cy="548640"/>
          </a:xfrm>
          <a:prstGeom prst="rect">
            <a:avLst/>
          </a:prstGeom>
          <a:noFill/>
          <a:ln/>
        </p:spPr>
        <p:txBody>
          <a:bodyPr wrap="square" lIns="0" tIns="0" rIns="0" bIns="0" rtlCol="0" anchor="t"/>
          <a:lstStyle/>
          <a:p>
            <a:pPr indent="0" marL="0">
              <a:buNone/>
            </a:pPr>
            <a:r>
              <a:rPr lang="en-US" sz="3000" b="1" dirty="0">
                <a:solidFill>
                  <a:srgbClr val="7DD3C8"/>
                </a:solidFill>
              </a:rPr>
              <a:t>1</a:t>
            </a:r>
            <a:endParaRPr lang="en-US" sz="3000" dirty="0"/>
          </a:p>
        </p:txBody>
      </p:sp>
      <p:sp>
        <p:nvSpPr>
          <p:cNvPr id="5" name="Text 3"/>
          <p:cNvSpPr txBox="1"/>
          <p:nvPr/>
        </p:nvSpPr>
        <p:spPr>
          <a:xfrm>
            <a:off x="1097280" y="2194560"/>
            <a:ext cx="4754880" cy="731520"/>
          </a:xfrm>
          <a:prstGeom prst="rect">
            <a:avLst/>
          </a:prstGeom>
          <a:noFill/>
          <a:ln/>
        </p:spPr>
        <p:txBody>
          <a:bodyPr wrap="square" lIns="0" tIns="0" rIns="0" bIns="0" rtlCol="0" anchor="t"/>
          <a:lstStyle/>
          <a:p>
            <a:pPr indent="0" marL="0">
              <a:buNone/>
            </a:pPr>
            <a:r>
              <a:rPr lang="en-US" sz="1700" dirty="0">
                <a:solidFill>
                  <a:schemeClr val="bg1"/>
                </a:solidFill>
              </a:rPr>
              <a:t>Structured analysis of unstructured information</a:t>
            </a:r>
            <a:endParaRPr lang="en-US" sz="1700" dirty="0"/>
          </a:p>
        </p:txBody>
      </p:sp>
      <p:sp>
        <p:nvSpPr>
          <p:cNvPr id="6" name="Text 4"/>
          <p:cNvSpPr txBox="1"/>
          <p:nvPr/>
        </p:nvSpPr>
        <p:spPr>
          <a:xfrm>
            <a:off x="548640" y="3063240"/>
            <a:ext cx="457200" cy="548640"/>
          </a:xfrm>
          <a:prstGeom prst="rect">
            <a:avLst/>
          </a:prstGeom>
          <a:noFill/>
          <a:ln/>
        </p:spPr>
        <p:txBody>
          <a:bodyPr wrap="square" lIns="0" tIns="0" rIns="0" bIns="0" rtlCol="0" anchor="t"/>
          <a:lstStyle/>
          <a:p>
            <a:pPr indent="0" marL="0">
              <a:buNone/>
            </a:pPr>
            <a:r>
              <a:rPr lang="en-US" sz="3000" b="1" dirty="0">
                <a:solidFill>
                  <a:srgbClr val="7DD3C8"/>
                </a:solidFill>
              </a:rPr>
              <a:t>2</a:t>
            </a:r>
            <a:endParaRPr lang="en-US" sz="3000" dirty="0"/>
          </a:p>
        </p:txBody>
      </p:sp>
      <p:sp>
        <p:nvSpPr>
          <p:cNvPr id="7" name="Text 5"/>
          <p:cNvSpPr txBox="1"/>
          <p:nvPr/>
        </p:nvSpPr>
        <p:spPr>
          <a:xfrm>
            <a:off x="1097280" y="3108960"/>
            <a:ext cx="4754880" cy="731520"/>
          </a:xfrm>
          <a:prstGeom prst="rect">
            <a:avLst/>
          </a:prstGeom>
          <a:noFill/>
          <a:ln/>
        </p:spPr>
        <p:txBody>
          <a:bodyPr wrap="square" lIns="0" tIns="0" rIns="0" bIns="0" rtlCol="0" anchor="t"/>
          <a:lstStyle/>
          <a:p>
            <a:pPr indent="0" marL="0">
              <a:buNone/>
            </a:pPr>
            <a:r>
              <a:rPr lang="en-US" sz="1700" dirty="0">
                <a:solidFill>
                  <a:schemeClr val="bg1"/>
                </a:solidFill>
              </a:rPr>
              <a:t>Explicit event-to-factor and exposure-propagation logic</a:t>
            </a:r>
            <a:endParaRPr lang="en-US" sz="1700" dirty="0"/>
          </a:p>
        </p:txBody>
      </p:sp>
      <p:sp>
        <p:nvSpPr>
          <p:cNvPr id="8" name="Text 6"/>
          <p:cNvSpPr txBox="1"/>
          <p:nvPr/>
        </p:nvSpPr>
        <p:spPr>
          <a:xfrm>
            <a:off x="548640" y="3977640"/>
            <a:ext cx="457200" cy="548640"/>
          </a:xfrm>
          <a:prstGeom prst="rect">
            <a:avLst/>
          </a:prstGeom>
          <a:noFill/>
          <a:ln/>
        </p:spPr>
        <p:txBody>
          <a:bodyPr wrap="square" lIns="0" tIns="0" rIns="0" bIns="0" rtlCol="0" anchor="t"/>
          <a:lstStyle/>
          <a:p>
            <a:pPr indent="0" marL="0">
              <a:buNone/>
            </a:pPr>
            <a:r>
              <a:rPr lang="en-US" sz="3000" b="1" dirty="0">
                <a:solidFill>
                  <a:srgbClr val="7DD3C8"/>
                </a:solidFill>
              </a:rPr>
              <a:t>3</a:t>
            </a:r>
            <a:endParaRPr lang="en-US" sz="3000" dirty="0"/>
          </a:p>
        </p:txBody>
      </p:sp>
      <p:sp>
        <p:nvSpPr>
          <p:cNvPr id="9" name="Text 7"/>
          <p:cNvSpPr txBox="1"/>
          <p:nvPr/>
        </p:nvSpPr>
        <p:spPr>
          <a:xfrm>
            <a:off x="1097280" y="4023360"/>
            <a:ext cx="4754880" cy="731520"/>
          </a:xfrm>
          <a:prstGeom prst="rect">
            <a:avLst/>
          </a:prstGeom>
          <a:noFill/>
          <a:ln/>
        </p:spPr>
        <p:txBody>
          <a:bodyPr wrap="square" lIns="0" tIns="0" rIns="0" bIns="0" rtlCol="0" anchor="t"/>
          <a:lstStyle/>
          <a:p>
            <a:pPr indent="0" marL="0">
              <a:buNone/>
            </a:pPr>
            <a:r>
              <a:rPr lang="en-US" sz="1700" dirty="0">
                <a:solidFill>
                  <a:schemeClr val="bg1"/>
                </a:solidFill>
              </a:rPr>
              <a:t>A working Streamlit demo with synthetic expected-loss comparisons</a:t>
            </a:r>
            <a:endParaRPr lang="en-US" sz="1700" dirty="0"/>
          </a:p>
        </p:txBody>
      </p:sp>
      <p:sp>
        <p:nvSpPr>
          <p:cNvPr id="10" name="Shape 8"/>
          <p:cNvSpPr/>
          <p:nvPr/>
        </p:nvSpPr>
        <p:spPr>
          <a:xfrm>
            <a:off x="6263640" y="1737360"/>
            <a:ext cx="0" cy="3337560"/>
          </a:xfrm>
          <a:prstGeom prst="line">
            <a:avLst/>
          </a:prstGeom>
          <a:noFill/>
          <a:ln w="9525">
            <a:solidFill>
              <a:srgbClr val="3F5A75"/>
            </a:solidFill>
            <a:prstDash val="solid"/>
          </a:ln>
        </p:spPr>
      </p:sp>
      <p:sp>
        <p:nvSpPr>
          <p:cNvPr id="11" name="Text 9"/>
          <p:cNvSpPr txBox="1"/>
          <p:nvPr/>
        </p:nvSpPr>
        <p:spPr>
          <a:xfrm>
            <a:off x="6583680" y="1737360"/>
            <a:ext cx="5029200" cy="228600"/>
          </a:xfrm>
          <a:prstGeom prst="rect">
            <a:avLst/>
          </a:prstGeom>
          <a:noFill/>
          <a:ln/>
        </p:spPr>
        <p:txBody>
          <a:bodyPr wrap="square" lIns="0" tIns="0" rIns="0" bIns="0" rtlCol="0" anchor="t"/>
          <a:lstStyle/>
          <a:p>
            <a:pPr indent="0" marL="0">
              <a:buNone/>
            </a:pPr>
            <a:r>
              <a:rPr lang="en-US" sz="1100" b="1" spc="100" kern="0" dirty="0">
                <a:solidFill>
                  <a:srgbClr val="E3B866"/>
                </a:solidFill>
              </a:rPr>
              <a:t>NEXT STEPS FOR REAL-WORLD READINESS (PLANNED, NOT BUILT)</a:t>
            </a:r>
            <a:endParaRPr lang="en-US" sz="1100" dirty="0"/>
          </a:p>
        </p:txBody>
      </p:sp>
      <p:sp>
        <p:nvSpPr>
          <p:cNvPr id="12" name="Text 10"/>
          <p:cNvSpPr txBox="1"/>
          <p:nvPr/>
        </p:nvSpPr>
        <p:spPr>
          <a:xfrm>
            <a:off x="6583680" y="2148840"/>
            <a:ext cx="5029200" cy="320040"/>
          </a:xfrm>
          <a:prstGeom prst="rect">
            <a:avLst/>
          </a:prstGeom>
          <a:noFill/>
          <a:ln/>
        </p:spPr>
        <p:txBody>
          <a:bodyPr wrap="square" lIns="0" tIns="0" rIns="0" bIns="0" rtlCol="0" anchor="t"/>
          <a:lstStyle/>
          <a:p>
            <a:pPr indent="0" marL="0">
              <a:buNone/>
            </a:pPr>
            <a:r>
              <a:rPr lang="en-US" sz="1500" dirty="0">
                <a:solidFill>
                  <a:schemeClr val="bg1"/>
                </a:solidFill>
              </a:rPr>
              <a:t>Historical backtesting and benchmark evaluation</a:t>
            </a:r>
            <a:endParaRPr lang="en-US" sz="1500" dirty="0"/>
          </a:p>
        </p:txBody>
      </p:sp>
      <p:sp>
        <p:nvSpPr>
          <p:cNvPr id="13" name="Shape 11"/>
          <p:cNvSpPr/>
          <p:nvPr/>
        </p:nvSpPr>
        <p:spPr>
          <a:xfrm>
            <a:off x="6583680" y="2532888"/>
            <a:ext cx="5056632" cy="0"/>
          </a:xfrm>
          <a:prstGeom prst="line">
            <a:avLst/>
          </a:prstGeom>
          <a:noFill/>
          <a:ln w="6350">
            <a:solidFill>
              <a:srgbClr val="3F5A75"/>
            </a:solidFill>
            <a:prstDash val="solid"/>
          </a:ln>
        </p:spPr>
      </p:sp>
      <p:sp>
        <p:nvSpPr>
          <p:cNvPr id="14" name="Text 12"/>
          <p:cNvSpPr txBox="1"/>
          <p:nvPr/>
        </p:nvSpPr>
        <p:spPr>
          <a:xfrm>
            <a:off x="6583680" y="2624328"/>
            <a:ext cx="5029200" cy="320040"/>
          </a:xfrm>
          <a:prstGeom prst="rect">
            <a:avLst/>
          </a:prstGeom>
          <a:noFill/>
          <a:ln/>
        </p:spPr>
        <p:txBody>
          <a:bodyPr wrap="square" lIns="0" tIns="0" rIns="0" bIns="0" rtlCol="0" anchor="t"/>
          <a:lstStyle/>
          <a:p>
            <a:pPr indent="0" marL="0">
              <a:buNone/>
            </a:pPr>
            <a:r>
              <a:rPr lang="en-US" sz="1500" dirty="0">
                <a:solidFill>
                  <a:schemeClr val="bg1"/>
                </a:solidFill>
              </a:rPr>
              <a:t>Calibration of event-to-PD shocks</a:t>
            </a:r>
            <a:endParaRPr lang="en-US" sz="1500" dirty="0"/>
          </a:p>
        </p:txBody>
      </p:sp>
      <p:sp>
        <p:nvSpPr>
          <p:cNvPr id="15" name="Shape 13"/>
          <p:cNvSpPr/>
          <p:nvPr/>
        </p:nvSpPr>
        <p:spPr>
          <a:xfrm>
            <a:off x="6583680" y="3008376"/>
            <a:ext cx="5056632" cy="0"/>
          </a:xfrm>
          <a:prstGeom prst="line">
            <a:avLst/>
          </a:prstGeom>
          <a:noFill/>
          <a:ln w="6350">
            <a:solidFill>
              <a:srgbClr val="3F5A75"/>
            </a:solidFill>
            <a:prstDash val="solid"/>
          </a:ln>
        </p:spPr>
      </p:sp>
      <p:sp>
        <p:nvSpPr>
          <p:cNvPr id="16" name="Text 14"/>
          <p:cNvSpPr txBox="1"/>
          <p:nvPr/>
        </p:nvSpPr>
        <p:spPr>
          <a:xfrm>
            <a:off x="6583680" y="3099816"/>
            <a:ext cx="5029200" cy="320040"/>
          </a:xfrm>
          <a:prstGeom prst="rect">
            <a:avLst/>
          </a:prstGeom>
          <a:noFill/>
          <a:ln/>
        </p:spPr>
        <p:txBody>
          <a:bodyPr wrap="square" lIns="0" tIns="0" rIns="0" bIns="0" rtlCol="0" anchor="t"/>
          <a:lstStyle/>
          <a:p>
            <a:pPr indent="0" marL="0">
              <a:buNone/>
            </a:pPr>
            <a:r>
              <a:rPr lang="en-US" sz="1500" dirty="0">
                <a:solidFill>
                  <a:schemeClr val="bg1"/>
                </a:solidFill>
              </a:rPr>
              <a:t>Broader event and sector coverage</a:t>
            </a:r>
            <a:endParaRPr lang="en-US" sz="1500" dirty="0"/>
          </a:p>
        </p:txBody>
      </p:sp>
      <p:sp>
        <p:nvSpPr>
          <p:cNvPr id="17" name="Shape 15"/>
          <p:cNvSpPr/>
          <p:nvPr/>
        </p:nvSpPr>
        <p:spPr>
          <a:xfrm>
            <a:off x="6583680" y="3483864"/>
            <a:ext cx="5056632" cy="0"/>
          </a:xfrm>
          <a:prstGeom prst="line">
            <a:avLst/>
          </a:prstGeom>
          <a:noFill/>
          <a:ln w="6350">
            <a:solidFill>
              <a:srgbClr val="3F5A75"/>
            </a:solidFill>
            <a:prstDash val="solid"/>
          </a:ln>
        </p:spPr>
      </p:sp>
      <p:sp>
        <p:nvSpPr>
          <p:cNvPr id="18" name="Text 16"/>
          <p:cNvSpPr txBox="1"/>
          <p:nvPr/>
        </p:nvSpPr>
        <p:spPr>
          <a:xfrm>
            <a:off x="6583680" y="3575304"/>
            <a:ext cx="5029200" cy="320040"/>
          </a:xfrm>
          <a:prstGeom prst="rect">
            <a:avLst/>
          </a:prstGeom>
          <a:noFill/>
          <a:ln/>
        </p:spPr>
        <p:txBody>
          <a:bodyPr wrap="square" lIns="0" tIns="0" rIns="0" bIns="0" rtlCol="0" anchor="t"/>
          <a:lstStyle/>
          <a:p>
            <a:pPr indent="0" marL="0">
              <a:buNone/>
            </a:pPr>
            <a:r>
              <a:rPr lang="en-US" sz="1500" dirty="0">
                <a:solidFill>
                  <a:schemeClr val="bg1"/>
                </a:solidFill>
              </a:rPr>
              <a:t>Better source corroboration and false-positive analysis</a:t>
            </a:r>
            <a:endParaRPr lang="en-US" sz="1500" dirty="0"/>
          </a:p>
        </p:txBody>
      </p:sp>
      <p:sp>
        <p:nvSpPr>
          <p:cNvPr id="19" name="Shape 17"/>
          <p:cNvSpPr/>
          <p:nvPr/>
        </p:nvSpPr>
        <p:spPr>
          <a:xfrm>
            <a:off x="6583680" y="3959352"/>
            <a:ext cx="5056632" cy="0"/>
          </a:xfrm>
          <a:prstGeom prst="line">
            <a:avLst/>
          </a:prstGeom>
          <a:noFill/>
          <a:ln w="6350">
            <a:solidFill>
              <a:srgbClr val="3F5A75"/>
            </a:solidFill>
            <a:prstDash val="solid"/>
          </a:ln>
        </p:spPr>
      </p:sp>
      <p:sp>
        <p:nvSpPr>
          <p:cNvPr id="20" name="Text 18"/>
          <p:cNvSpPr txBox="1"/>
          <p:nvPr/>
        </p:nvSpPr>
        <p:spPr>
          <a:xfrm>
            <a:off x="6583680" y="4050792"/>
            <a:ext cx="5029200" cy="320040"/>
          </a:xfrm>
          <a:prstGeom prst="rect">
            <a:avLst/>
          </a:prstGeom>
          <a:noFill/>
          <a:ln/>
        </p:spPr>
        <p:txBody>
          <a:bodyPr wrap="square" lIns="0" tIns="0" rIns="0" bIns="0" rtlCol="0" anchor="t"/>
          <a:lstStyle/>
          <a:p>
            <a:pPr indent="0" marL="0">
              <a:buNone/>
            </a:pPr>
            <a:r>
              <a:rPr lang="en-US" sz="1500" dirty="0">
                <a:solidFill>
                  <a:schemeClr val="bg1"/>
                </a:solidFill>
              </a:rPr>
              <a:t>Validation against real portfolio data</a:t>
            </a:r>
            <a:endParaRPr lang="en-US" sz="1500" dirty="0"/>
          </a:p>
        </p:txBody>
      </p:sp>
      <p:sp>
        <p:nvSpPr>
          <p:cNvPr id="21" name="Shape 19"/>
          <p:cNvSpPr/>
          <p:nvPr/>
        </p:nvSpPr>
        <p:spPr>
          <a:xfrm>
            <a:off x="6583680" y="4434840"/>
            <a:ext cx="5056632" cy="0"/>
          </a:xfrm>
          <a:prstGeom prst="line">
            <a:avLst/>
          </a:prstGeom>
          <a:noFill/>
          <a:ln w="6350">
            <a:solidFill>
              <a:srgbClr val="3F5A75"/>
            </a:solidFill>
            <a:prstDash val="solid"/>
          </a:ln>
        </p:spPr>
      </p:sp>
      <p:sp>
        <p:nvSpPr>
          <p:cNvPr id="22" name="Text 20"/>
          <p:cNvSpPr txBox="1"/>
          <p:nvPr/>
        </p:nvSpPr>
        <p:spPr>
          <a:xfrm>
            <a:off x="6583680" y="4526280"/>
            <a:ext cx="5029200" cy="320040"/>
          </a:xfrm>
          <a:prstGeom prst="rect">
            <a:avLst/>
          </a:prstGeom>
          <a:noFill/>
          <a:ln/>
        </p:spPr>
        <p:txBody>
          <a:bodyPr wrap="square" lIns="0" tIns="0" rIns="0" bIns="0" rtlCol="0" anchor="t"/>
          <a:lstStyle/>
          <a:p>
            <a:pPr indent="0" marL="0">
              <a:buNone/>
            </a:pPr>
            <a:r>
              <a:rPr lang="en-US" sz="1500" dirty="0">
                <a:solidFill>
                  <a:schemeClr val="bg1"/>
                </a:solidFill>
              </a:rPr>
              <a:t>Security, governance and integration work</a:t>
            </a:r>
            <a:endParaRPr lang="en-US" sz="1500" dirty="0"/>
          </a:p>
        </p:txBody>
      </p:sp>
      <p:sp>
        <p:nvSpPr>
          <p:cNvPr id="23" name="Text 21"/>
          <p:cNvSpPr txBox="1"/>
          <p:nvPr/>
        </p:nvSpPr>
        <p:spPr>
          <a:xfrm>
            <a:off x="548640" y="5349240"/>
            <a:ext cx="11091672" cy="868680"/>
          </a:xfrm>
          <a:prstGeom prst="rect">
            <a:avLst/>
          </a:prstGeom>
          <a:noFill/>
          <a:ln/>
        </p:spPr>
        <p:txBody>
          <a:bodyPr wrap="square" lIns="0" tIns="0" rIns="0" bIns="0" rtlCol="0" anchor="t"/>
          <a:lstStyle/>
          <a:p>
            <a:pPr indent="0" marL="0">
              <a:buNone/>
            </a:pPr>
            <a:r>
              <a:rPr lang="en-US" sz="2500" b="1" dirty="0">
                <a:solidFill>
                  <a:schemeClr val="bg1"/>
                </a:solidFill>
              </a:rPr>
              <a:t>RiskCascade demonstrates the analytical bridge between information and financial exposure.</a:t>
            </a:r>
            <a:endParaRPr lang="en-US" sz="2500" dirty="0"/>
          </a:p>
        </p:txBody>
      </p:sp>
      <p:sp>
        <p:nvSpPr>
          <p:cNvPr id="25" name="Slide Number Placeholder 0"/>
          <p:cNvSpPr>
            <a:spLocks noGrp="1"/>
          </p:cNvSpPr>
          <p:nvPr>
            <p:ph type="sldNum" sz="quarter" idx="4294967295"/>
          </p:nvPr>
        </p:nvSpPr>
        <p:spPr>
          <a:xfrm>
            <a:off x="11091672"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B8C9"/>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RiskCascade">
  <a:themeElements>
    <a:clrScheme name="RiskCascade">
      <a:dk1>
        <a:srgbClr val="173653"/>
      </a:dk1>
      <a:lt1>
        <a:srgbClr val="F7F8FA"/>
      </a:lt1>
      <a:dk2>
        <a:srgbClr val="64748B"/>
      </a:dk2>
      <a:lt2>
        <a:srgbClr val="E8ECF1"/>
      </a:lt2>
      <a:accent1>
        <a:srgbClr val="0F766E"/>
      </a:accent1>
      <a:accent2>
        <a:srgbClr val="B7791F"/>
      </a:accent2>
      <a:accent3>
        <a:srgbClr val="A94442"/>
      </a:accent3>
      <a:accent4>
        <a:srgbClr val="2C5A85"/>
      </a:accent4>
      <a:accent5>
        <a:srgbClr val="7DD3C8"/>
      </a:accent5>
      <a:accent6>
        <a:srgbClr val="A9B8C9"/>
      </a:accent6>
      <a:hlink>
        <a:srgbClr val="0F766E"/>
      </a:hlink>
      <a:folHlink>
        <a:srgbClr val="64748B"/>
      </a:folHlink>
    </a:clrScheme>
    <a:fontScheme name="RiskCascad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RiskCascade - Evidence-to-Impact Credit Risk Cascade Engine</dc:title>
  <dc:subject>PptxGenJS Presentation</dc:subject>
  <dc:creator>PptxGenJS</dc:creator>
  <cp:lastModifiedBy>PptxGenJS</cp:lastModifiedBy>
  <cp:revision>1</cp:revision>
  <dcterms:created xsi:type="dcterms:W3CDTF">2026-10-11T13:20:46Z</dcterms:created>
  <dcterms:modified xsi:type="dcterms:W3CDTF">2026-10-11T13:20:46Z</dcterms:modified>
</cp:coreProperties>
</file>